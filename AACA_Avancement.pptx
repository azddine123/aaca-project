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8288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6459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AACA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Académique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Cognitif par IA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Rapport d'État d'Avancement — Mars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2286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1737360" cy="640080"/>
          </a:xfrm>
          <a:prstGeom prst="rect">
            <a:avLst/>
          </a:prstGeom>
          <a:solidFill>
            <a:srgbClr val="141830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</a:rPr>
              <a:t>📷  Capture 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206240"/>
            <a:ext cx="1737360" cy="640080"/>
          </a:xfrm>
          <a:prstGeom prst="rect">
            <a:avLst/>
          </a:prstGeom>
          <a:solidFill>
            <a:srgbClr val="141830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</a:rPr>
              <a:t>🧠  Génération LLM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4206240"/>
            <a:ext cx="1737360" cy="640080"/>
          </a:xfrm>
          <a:prstGeom prst="rect">
            <a:avLst/>
          </a:prstGeom>
          <a:solidFill>
            <a:srgbClr val="141830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4206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</a:rPr>
              <a:t>📚  Apprentissage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1226"/>
          </a:solidFill>
          <a:ln w="12700">
            <a:solidFill>
              <a:srgbClr val="0D1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Application mobile cross-platform  •  Backend IA  •  Stack Moderne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AACA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</a:rPr>
              <a:t>AACA transforme des photos de cours en ressources pédagogiques interactives grâce à l'intelligence artificielle.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L'étudiant photographie un tableau ou des notes manuscrites — l'IA s'occupe du reste : extraction du texte, reconnaissance des formules, génération de résumés, quiz et flashcards personnalisés.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005840"/>
            <a:ext cx="3474720" cy="658368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0058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📷  Photo /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642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874520"/>
            <a:ext cx="3474720" cy="658368"/>
          </a:xfrm>
          <a:prstGeom prst="rect">
            <a:avLst/>
          </a:prstGeom>
          <a:solidFill>
            <a:srgbClr val="141830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8745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🔍  OCR + LaTeX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53288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743200"/>
            <a:ext cx="3474720" cy="658368"/>
          </a:xfrm>
          <a:prstGeom prst="rect">
            <a:avLst/>
          </a:prstGeom>
          <a:solidFill>
            <a:srgbClr val="14183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7432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🧠  LLM 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40156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3611880"/>
            <a:ext cx="3474720" cy="658368"/>
          </a:xfrm>
          <a:prstGeom prst="rect">
            <a:avLst/>
          </a:prstGeom>
          <a:solidFill>
            <a:srgbClr val="14183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36118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📚  Quiz &amp; Flashcards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1920240" cy="502920"/>
          </a:xfrm>
          <a:prstGeom prst="rect">
            <a:avLst/>
          </a:prstGeom>
          <a:solidFill>
            <a:srgbClr val="07091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Multi-moteur OCR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343400"/>
            <a:ext cx="1920240" cy="502920"/>
          </a:xfrm>
          <a:prstGeom prst="rect">
            <a:avLst/>
          </a:prstGeom>
          <a:solidFill>
            <a:srgbClr val="0709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</a:rPr>
              <a:t>LLM multi-provider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4343400"/>
            <a:ext cx="1920240" cy="502920"/>
          </a:xfrm>
          <a:prstGeom prst="rect">
            <a:avLst/>
          </a:prstGeom>
          <a:solidFill>
            <a:srgbClr val="0709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Apprentissage adaptatif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4343400"/>
            <a:ext cx="1920240" cy="502920"/>
          </a:xfrm>
          <a:prstGeom prst="rect">
            <a:avLst/>
          </a:prstGeom>
          <a:solidFill>
            <a:srgbClr val="0709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343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Dark/Light mode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Technologique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BACKEND — Python 3.13 / FastAPI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45920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FastAPI 0.109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REST API async, Swagger auto-docs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9968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MongoDB 7.0 (PyMongo)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6 collections, GridFS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14016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14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JWT / Passlib bcrypt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414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Auth, tokens refresh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98064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98064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98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PaddleOCR (PP-OCRv5)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OCR principal + EasyOCR fallback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182112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82112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OpenCV 4.9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3182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Prétraitement image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66160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66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Pix2Tex (Transformers)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4884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Reconnaissance formules LaTeX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50208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50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ChromaDB 0.4.22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48840" y="3950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Vector store RAG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334256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334256"/>
            <a:ext cx="54864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342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OpenAI / Gemini / Claude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48840" y="4334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LLM multi-provider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1143000"/>
            <a:ext cx="38404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📱  FRONTEND — React Native + Expo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1645920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164592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1645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Expo SDK 54 / Router 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1645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File-based routing, deep links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2029968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2029968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0299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React Native 0.81.5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2029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Cross-platform iOS/Android/Web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92040" y="2414016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2414016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2414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TypeScript 5.9.2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20840" y="24140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Typage strict end-to-end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2798064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2040" y="2798064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2798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React Context API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20840" y="27980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Auth, Notes, Study, Appearance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92040" y="3182112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92040" y="3182112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31821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expo-camera / image-picker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20840" y="3182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Capture photo + galerie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92040" y="3566160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92040" y="356616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3566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expo-linear-gradient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20840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Dégradés UI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92040" y="3950208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92040" y="3950208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3950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date-fns v4 (fr locale)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20840" y="3950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Dates localisées en français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892040" y="4334256"/>
            <a:ext cx="3840480" cy="347472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92040" y="4334256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43342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Axios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20840" y="433425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HTTP client + JWT interceptors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</a:rPr>
              <a:t>TRAITEMENT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Traitement en 8 Étapes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Capture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57276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Photo ou PDF via caméra / galerie / upload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88720"/>
            <a:ext cx="411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1234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Prétraitement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157276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Correction perspective, CLAHE, débruitage OpenCV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188720"/>
            <a:ext cx="41148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234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OCR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5152" y="157276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PaddleOCR PP-OCRv5 → EasyOCR → OpenAI Vision (fallback)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118872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188720"/>
            <a:ext cx="41148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1234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LaTeX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48272" y="157276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Pix2Tex : détection régions + conversion formules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606040"/>
            <a:ext cx="41148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299008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Sujet détecté (11 matières) par pattern matching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945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468880" y="260604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68880" y="2606040"/>
            <a:ext cx="41148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</a:rPr>
              <a:t>Structuration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42032" y="299008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LLM organise : titre, sections, définitions, exemples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976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606040"/>
            <a:ext cx="4114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RAG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45152" y="299008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Embeddings → ChromaDB → recherche sémantique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675120" y="2606040"/>
            <a:ext cx="1828800" cy="1188720"/>
          </a:xfrm>
          <a:prstGeom prst="rect">
            <a:avLst/>
          </a:prstGeom>
          <a:solidFill>
            <a:srgbClr val="1418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75120" y="2606040"/>
            <a:ext cx="41148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13232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Génération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48272" y="2990088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Résumé, Quiz QCM, Flashcards (réponse &lt; 30s)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</a:rPr>
              <a:t>BACKEND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 — 21 Endpoints, 13 Services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🔐 Authentification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Register / Login — JWT tokens (access + refresh)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20640" y="1179576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19072"/>
            <a:ext cx="54864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46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🖼️ Traitement Image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993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Traitement image unique + capture &amp; sauvegarde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1801368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40864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40864"/>
            <a:ext cx="54864" cy="5303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68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📝 Notes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6151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CRUD notes + génération de résumé (4 types)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242316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62656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962656"/>
            <a:ext cx="54864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90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❓ Quiz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2369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Génération auto, soumission, calcul 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044952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84448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84448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🃏 Flashcards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858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Création, revue SM-2, cartes dues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366674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206240"/>
            <a:ext cx="5303520" cy="530352"/>
          </a:xfrm>
          <a:prstGeom prst="rect">
            <a:avLst/>
          </a:prstGeom>
          <a:solidFill>
            <a:srgbClr val="141830"/>
          </a:solidFill>
          <a:ln w="12700">
            <a:solidFill>
              <a:srgbClr val="1418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206240"/>
            <a:ext cx="54864" cy="5303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🔍 Recherche &amp; Stats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480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Sémantique RAG, profil, progression, recommandations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20640" y="4288536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1097280"/>
            <a:ext cx="2834640" cy="3551530"/>
          </a:xfrm>
          <a:prstGeom prst="rect">
            <a:avLst/>
          </a:prstGeom>
          <a:solidFill>
            <a:srgbClr val="1418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1097280"/>
            <a:ext cx="28346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13 SERVICES BACKEND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1572768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9320" y="1572768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157276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ImageProcessor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9320" y="1817827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1817827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1817827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OCRService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2062886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2062886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2062886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LaTeXService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9320" y="2307946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2307946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8192" y="2307946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LLMService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2553005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2553005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2553005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SubjectClassifier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89320" y="2798064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2798064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8192" y="2798064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RAGService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89320" y="3043123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89320" y="3043123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08192" y="3043123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EmbeddingService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89320" y="3288182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9320" y="3288182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08192" y="328818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VectorStoreService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89320" y="3533242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9320" y="3533242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08192" y="353324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PDFService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989320" y="3778301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89320" y="3778301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08192" y="3778301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AdaptiveLearningService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989320" y="4023360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4023360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08192" y="4023360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MongoDBService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89320" y="4268419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89320" y="4268419"/>
            <a:ext cx="4572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08192" y="4268419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Pipeline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89320" y="4513478"/>
            <a:ext cx="2834640" cy="219456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89320" y="4513478"/>
            <a:ext cx="45720" cy="2194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08192" y="451347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LocalStorageService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INTELLIGENCE ARTIFICIELLE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IA Réalisées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6128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OCR Multi-Moteur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45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PaddleOCR PP-OCRv5 (moteur principal)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EasyOCR si confiance &lt; 80%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OpenAI Vision en dernier recours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Support multi-langue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6128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📐  Reconnaissance LaTeX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545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Pix2Tex (Transformers)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Détection régions de formules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Conversion image → LaTeX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Intégration au contenu structuré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2651760" cy="36576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16128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LLM Multi-Provider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545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OpenAI GPT-4 (principal)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Google Gemini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6208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Anthropic Claude Sonnet 4.6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Cache TTL 1h, bascule auto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0358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RAG — Recherche Sémantique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Embeddings OpenAI text-embedding-3-small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ChromaDB vectoriel persistant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Filtrage user_id / note / matière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4325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Génération contextuelle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01752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017520"/>
            <a:ext cx="265176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30358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Apprentissage Adaptatif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55848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Niveau cognitif (débutant → expert)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55848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Analyse forces/faiblesses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55848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Recommandations personnalisées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55848" y="4325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Difficulté ajustée auto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141830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017520"/>
            <a:ext cx="2651760" cy="365760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30358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🃏  Répétition Espacée SM-2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Algorithme SuperMemo-2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6208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4 niveaux de notation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36208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Ease factor &amp; intervalles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36208" y="4325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• Cartes "dues" filtrées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Mobile — 8 Écrans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Accueil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1463040" cy="54864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Notes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1463040" cy="548640"/>
          </a:xfrm>
          <a:prstGeom prst="rect">
            <a:avLst/>
          </a:prstGeom>
          <a:solidFill>
            <a:srgbClr val="6366F1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Capture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1463040" cy="54864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Étude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463040" cy="54864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Profil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0195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🏠 Home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Salutation temps-réel, stats (notes, streak, score), accès rapide à la capture, 5 dernières notes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87452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874520"/>
            <a:ext cx="2606040" cy="320040"/>
          </a:xfrm>
          <a:prstGeom prst="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90195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Notes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Liste paginée, barre de recherche, couleurs par matière, détail en 3 onglets (Résumé / Contenu / Étude)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87452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874520"/>
            <a:ext cx="2606040" cy="32004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90195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Capture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2219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Indicateur 3 étapes, sélection caméra/galerie, upload FormData, overlay de traitement IA, affichage résultat OCR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154680"/>
            <a:ext cx="2606040" cy="32004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18211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Étude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5021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Flashcards avec animation 3D flip (React Native Animated), Quiz QCM interactif, score final, session complète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15468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154680"/>
            <a:ext cx="2606040" cy="320040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18211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Profil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5021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Infos utilisateur, niveau cognitif, matières préférées, stats détaillées, streak, bouton déconnexion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154680"/>
            <a:ext cx="2606040" cy="1143000"/>
          </a:xfrm>
          <a:prstGeom prst="rect">
            <a:avLst/>
          </a:prstGeom>
          <a:solidFill>
            <a:srgbClr val="141830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154680"/>
            <a:ext cx="2606040" cy="320040"/>
          </a:xfrm>
          <a:prstGeom prst="rect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18211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Auth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5021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Login / Register — validation formulaire, JWT secure store, restauration de session automatique au démarrage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</a:rPr>
              <a:t>QUALITÉ &amp; 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Données, Sécurité &amp; Tests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MongoDB — 6 Collections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Email unique, niveau cognitif, préférences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75104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notes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975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Index (user_id, created_at, subject)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95728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95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quizzes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Index note_id, user_id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16352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16352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flashcards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2816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Index (user_id, next_review)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236976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36976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36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flashcard_reviews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659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Historique répétition espacée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384048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657600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files (GridFS)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Stockage binaire images/PDFs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solidFill>
            <a:srgbClr val="6366F1">
              <a:alpha val="9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Sécurité Implémentée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554480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JWT Tokens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Access + Refresh, expiration stricte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1975104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1975104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Bcrypt / Passlib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975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Hash mots de passe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2395728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2395728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395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CORS strict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Whitelist devs, ValueError en prod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816352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2816352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Ownership checks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user_id vérifié sur chaque ressource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0" y="3236976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236976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236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HTTP 503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72200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ServiceUnavailableError si DB déconnectée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0" y="3657600"/>
            <a:ext cx="4114800" cy="3657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3657600"/>
            <a:ext cx="5486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SecureStore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7220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Tokens chiffrés nativement (iOS/Android)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51376"/>
            <a:ext cx="8321040" cy="36576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1513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🧪  Tests Pytest — 8 fichiers de tests  |  register • login • OCR • quiz • flashcards • notes • health • security &amp; integration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AB308"/>
                </a:solidFill>
              </a:rPr>
              <a:t>BILAN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Chiffres Clés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508760" cy="1371600"/>
          </a:xfrm>
          <a:prstGeom prst="rect">
            <a:avLst/>
          </a:prstGeom>
          <a:solidFill>
            <a:srgbClr val="1418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Endpoints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1097280"/>
            <a:ext cx="1508760" cy="1371600"/>
          </a:xfrm>
          <a:prstGeom prst="rect">
            <a:avLst/>
          </a:prstGeom>
          <a:solidFill>
            <a:srgbClr val="14183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143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048256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Services 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1097280"/>
            <a:ext cx="1508760" cy="1371600"/>
          </a:xfrm>
          <a:prstGeom prst="rect">
            <a:avLst/>
          </a:prstGeom>
          <a:solidFill>
            <a:srgbClr val="141830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143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730752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Écrans Mobile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1097280"/>
            <a:ext cx="1508760" cy="1371600"/>
          </a:xfrm>
          <a:prstGeom prst="rect">
            <a:avLst/>
          </a:prstGeom>
          <a:solidFill>
            <a:srgbClr val="14183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143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413248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Providers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95744" y="1097280"/>
            <a:ext cx="1508760" cy="1371600"/>
          </a:xfrm>
          <a:prstGeom prst="rect">
            <a:avLst/>
          </a:prstGeom>
          <a:solidFill>
            <a:srgbClr val="14183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95744" y="1143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095744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Moteurs OCR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Collections MongoDB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55648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755648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Matières détectées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45536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Fichiers tests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35424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35424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Dépendances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25312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925312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Types résumé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0" y="2697480"/>
            <a:ext cx="1188720" cy="822960"/>
          </a:xfrm>
          <a:prstGeom prst="rect">
            <a:avLst/>
          </a:prstGeom>
          <a:solidFill>
            <a:srgbClr val="141830"/>
          </a:solidFill>
          <a:ln w="6350">
            <a:solidFill>
              <a:srgbClr val="1E22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7249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15200" y="3127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</a:rPr>
              <a:t>Commits git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Pipeline complet capture → contenu éducatif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38999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OCR multi-moteur avec fallback intelligent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Génération quiz, flashcards et résumés par LLM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2931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RAG sémantique avec ChromaDB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489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Répétition espacée SM-2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6863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Apprentissage adaptatif (niveau cognitif)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Application mobile cross-platform (iOS/Android/Web)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63440" y="38999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Thème Dark / Light complet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63440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Authentification JWT sécurisée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63440" y="42931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Support PDF multi-pages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63440" y="4489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Recherche sémantique et plein texte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63440" y="46863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✅ Tests automatisés (pytest)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AACA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</a:rPr>
              <a:t>Assistant Académique Cognitif par 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Toutes les fonctionnalités core sont implémentées et opérationnelles.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Le projet couvre l'ensemble du pipeline — de la capture photo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à la génération de contenu éducatif personnalisé par 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94760"/>
            <a:ext cx="2194560" cy="731520"/>
          </a:xfrm>
          <a:prstGeom prst="rect">
            <a:avLst/>
          </a:prstGeom>
          <a:solidFill>
            <a:srgbClr val="1418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Full-Stack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FastAPI + React Native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3794760"/>
            <a:ext cx="2194560" cy="731520"/>
          </a:xfrm>
          <a:prstGeom prst="rect">
            <a:avLst/>
          </a:prstGeom>
          <a:solidFill>
            <a:srgbClr val="141830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IA Avancée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OCR + LLM + RAG + SM-2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794760"/>
            <a:ext cx="2194560" cy="731520"/>
          </a:xfrm>
          <a:prstGeom prst="rect">
            <a:avLst/>
          </a:prstGeom>
          <a:solidFill>
            <a:srgbClr val="14183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Production-Ready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Auth · Tests · Dark Mode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Mars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AACA - État d'Avancement</dc:title>
  <dc:subject>PptxGenJS Presentation</dc:subject>
  <dc:creator>Équipe AACA</dc:creator>
  <cp:lastModifiedBy>Équipe AACA</cp:lastModifiedBy>
  <cp:revision>1</cp:revision>
  <dcterms:created xsi:type="dcterms:W3CDTF">2026-03-25T17:18:33Z</dcterms:created>
  <dcterms:modified xsi:type="dcterms:W3CDTF">2026-03-25T17:18:33Z</dcterms:modified>
</cp:coreProperties>
</file>
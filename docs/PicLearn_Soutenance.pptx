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6B"/>
        </a:solidFill>
      </p:bgPr>
    </p:bg>
    <p:spTree>
      <p:nvGrpSpPr>
        <p:cNvPr id="1" name=""/>
        <p:cNvGrpSpPr/>
        <p:nvPr/>
      </p:nvGrpSpPr>
      <p:grpSpPr>
        <a:xfrm>
          <a:off x="0" y="0"/>
          <a:ext cx="0" cy="0"/>
          <a:chOff x="0" y="0"/>
          <a:chExt cx="0" cy="0"/>
        </a:xfrm>
      </p:grpSpPr>
      <p:sp>
        <p:nvSpPr>
          <p:cNvPr id="2" name="Shape 0"/>
          <p:cNvSpPr/>
          <p:nvPr/>
        </p:nvSpPr>
        <p:spPr>
          <a:xfrm>
            <a:off x="6217920" y="0"/>
            <a:ext cx="2926080" cy="1920240"/>
          </a:xfrm>
          <a:prstGeom prst="rect">
            <a:avLst/>
          </a:prstGeom>
          <a:solidFill>
            <a:srgbClr val="2E4DA3"/>
          </a:solidFill>
          <a:ln w="12700">
            <a:solidFill>
              <a:srgbClr val="2E4DA3"/>
            </a:solidFill>
            <a:prstDash val="solid"/>
          </a:ln>
        </p:spPr>
      </p:sp>
      <p:sp>
        <p:nvSpPr>
          <p:cNvPr id="3" name="Shape 1"/>
          <p:cNvSpPr/>
          <p:nvPr/>
        </p:nvSpPr>
        <p:spPr>
          <a:xfrm>
            <a:off x="0" y="0"/>
            <a:ext cx="73152" cy="5143500"/>
          </a:xfrm>
          <a:prstGeom prst="rect">
            <a:avLst/>
          </a:prstGeom>
          <a:solidFill>
            <a:srgbClr val="F5A623"/>
          </a:solidFill>
          <a:ln w="12700">
            <a:solidFill>
              <a:srgbClr val="F5A623"/>
            </a:solidFill>
            <a:prstDash val="solid"/>
          </a:ln>
        </p:spPr>
      </p:sp>
      <p:sp>
        <p:nvSpPr>
          <p:cNvPr id="4" name="Shape 2"/>
          <p:cNvSpPr/>
          <p:nvPr/>
        </p:nvSpPr>
        <p:spPr>
          <a:xfrm>
            <a:off x="502920" y="594360"/>
            <a:ext cx="1188720" cy="1188720"/>
          </a:xfrm>
          <a:prstGeom prst="ellipse">
            <a:avLst/>
          </a:prstGeom>
          <a:solidFill>
            <a:srgbClr val="F5A623"/>
          </a:solidFill>
          <a:ln w="12700">
            <a:solidFill>
              <a:srgbClr val="F5A623"/>
            </a:solidFill>
            <a:prstDash val="solid"/>
          </a:ln>
        </p:spPr>
      </p:sp>
      <p:sp>
        <p:nvSpPr>
          <p:cNvPr id="5" name="Text 3"/>
          <p:cNvSpPr/>
          <p:nvPr/>
        </p:nvSpPr>
        <p:spPr>
          <a:xfrm>
            <a:off x="502920" y="594360"/>
            <a:ext cx="1188720" cy="1188720"/>
          </a:xfrm>
          <a:prstGeom prst="rect">
            <a:avLst/>
          </a:prstGeom>
          <a:noFill/>
          <a:ln/>
        </p:spPr>
        <p:txBody>
          <a:bodyPr wrap="square" lIns="0" tIns="0" rIns="0" bIns="0" rtlCol="0" anchor="ctr"/>
          <a:lstStyle/>
          <a:p>
            <a:pPr algn="ctr" indent="0" marL="0">
              <a:buNone/>
            </a:pPr>
            <a:r>
              <a:rPr lang="en-US" sz="2860" b="1" dirty="0">
                <a:solidFill>
                  <a:srgbClr val="1B2A6B"/>
                </a:solidFill>
              </a:rPr>
              <a:t>PL</a:t>
            </a:r>
            <a:endParaRPr lang="en-US" sz="2860" dirty="0"/>
          </a:p>
        </p:txBody>
      </p:sp>
      <p:sp>
        <p:nvSpPr>
          <p:cNvPr id="6" name="Text 4"/>
          <p:cNvSpPr/>
          <p:nvPr/>
        </p:nvSpPr>
        <p:spPr>
          <a:xfrm>
            <a:off x="1920240" y="502920"/>
            <a:ext cx="6858000" cy="960120"/>
          </a:xfrm>
          <a:prstGeom prst="rect">
            <a:avLst/>
          </a:prstGeom>
          <a:noFill/>
          <a:ln/>
        </p:spPr>
        <p:txBody>
          <a:bodyPr wrap="square" lIns="0" tIns="0" rIns="0" bIns="0" rtlCol="0" anchor="ctr"/>
          <a:lstStyle/>
          <a:p>
            <a:pPr algn="l" indent="0" marL="0">
              <a:buNone/>
            </a:pPr>
            <a:r>
              <a:rPr lang="en-US" sz="6000" b="1" dirty="0">
                <a:solidFill>
                  <a:srgbClr val="FFFFFF"/>
                </a:solidFill>
                <a:latin typeface="Calibri" pitchFamily="34" charset="0"/>
                <a:ea typeface="Calibri" pitchFamily="34" charset="-122"/>
                <a:cs typeface="Calibri" pitchFamily="34" charset="-120"/>
              </a:rPr>
              <a:t>PicLearn</a:t>
            </a:r>
            <a:endParaRPr lang="en-US" sz="6000" dirty="0"/>
          </a:p>
        </p:txBody>
      </p:sp>
      <p:sp>
        <p:nvSpPr>
          <p:cNvPr id="7" name="Text 5"/>
          <p:cNvSpPr/>
          <p:nvPr/>
        </p:nvSpPr>
        <p:spPr>
          <a:xfrm>
            <a:off x="1920240" y="1508760"/>
            <a:ext cx="6858000" cy="502920"/>
          </a:xfrm>
          <a:prstGeom prst="rect">
            <a:avLst/>
          </a:prstGeom>
          <a:noFill/>
          <a:ln/>
        </p:spPr>
        <p:txBody>
          <a:bodyPr wrap="square" lIns="0" tIns="0" rIns="0" bIns="0" rtlCol="0" anchor="ctr"/>
          <a:lstStyle/>
          <a:p>
            <a:pPr algn="l" indent="0" marL="0">
              <a:buNone/>
            </a:pPr>
            <a:r>
              <a:rPr lang="en-US" sz="2000" dirty="0">
                <a:solidFill>
                  <a:srgbClr val="F5A623"/>
                </a:solidFill>
                <a:latin typeface="Calibri" pitchFamily="34" charset="0"/>
                <a:ea typeface="Calibri" pitchFamily="34" charset="-122"/>
                <a:cs typeface="Calibri" pitchFamily="34" charset="-120"/>
              </a:rPr>
              <a:t>Assistant Cognitif Académique Intelligent</a:t>
            </a:r>
            <a:endParaRPr lang="en-US" sz="2000" dirty="0"/>
          </a:p>
        </p:txBody>
      </p:sp>
      <p:sp>
        <p:nvSpPr>
          <p:cNvPr id="8" name="Text 6"/>
          <p:cNvSpPr/>
          <p:nvPr/>
        </p:nvSpPr>
        <p:spPr>
          <a:xfrm>
            <a:off x="1920240" y="2057400"/>
            <a:ext cx="6858000" cy="384048"/>
          </a:xfrm>
          <a:prstGeom prst="rect">
            <a:avLst/>
          </a:prstGeom>
          <a:noFill/>
          <a:ln/>
        </p:spPr>
        <p:txBody>
          <a:bodyPr wrap="square" lIns="0" tIns="0" rIns="0" bIns="0" rtlCol="0" anchor="ctr"/>
          <a:lstStyle/>
          <a:p>
            <a:pPr algn="l" indent="0" marL="0">
              <a:buNone/>
            </a:pPr>
            <a:r>
              <a:rPr lang="en-US" sz="1400" dirty="0">
                <a:solidFill>
                  <a:srgbClr val="A0B0D8"/>
                </a:solidFill>
                <a:latin typeface="Calibri" pitchFamily="34" charset="0"/>
                <a:ea typeface="Calibri" pitchFamily="34" charset="-122"/>
                <a:cs typeface="Calibri" pitchFamily="34" charset="-120"/>
              </a:rPr>
              <a:t>AACA  ·  AI Academic Cognitive Assistant</a:t>
            </a:r>
            <a:endParaRPr lang="en-US" sz="1400" dirty="0"/>
          </a:p>
        </p:txBody>
      </p:sp>
      <p:sp>
        <p:nvSpPr>
          <p:cNvPr id="9" name="Shape 7"/>
          <p:cNvSpPr/>
          <p:nvPr/>
        </p:nvSpPr>
        <p:spPr>
          <a:xfrm>
            <a:off x="457200" y="2880360"/>
            <a:ext cx="8229600" cy="0"/>
          </a:xfrm>
          <a:prstGeom prst="line">
            <a:avLst/>
          </a:prstGeom>
          <a:noFill/>
          <a:ln w="12700">
            <a:solidFill>
              <a:srgbClr val="3D5296"/>
            </a:solidFill>
            <a:prstDash val="solid"/>
          </a:ln>
        </p:spPr>
      </p:sp>
      <p:sp>
        <p:nvSpPr>
          <p:cNvPr id="10" name="Text 8"/>
          <p:cNvSpPr/>
          <p:nvPr/>
        </p:nvSpPr>
        <p:spPr>
          <a:xfrm>
            <a:off x="457200" y="3017520"/>
            <a:ext cx="8229600" cy="438912"/>
          </a:xfrm>
          <a:prstGeom prst="rect">
            <a:avLst/>
          </a:prstGeom>
          <a:noFill/>
          <a:ln/>
        </p:spPr>
        <p:txBody>
          <a:bodyPr wrap="square" rtlCol="0" anchor="ctr"/>
          <a:lstStyle/>
          <a:p>
            <a:pPr algn="l" indent="0" marL="0">
              <a:buNone/>
            </a:pPr>
            <a:r>
              <a:rPr lang="en-US" sz="1400" dirty="0">
                <a:solidFill>
                  <a:srgbClr val="7A92C8"/>
                </a:solidFill>
                <a:latin typeface="Calibri" pitchFamily="34" charset="0"/>
                <a:ea typeface="Calibri" pitchFamily="34" charset="-122"/>
                <a:cs typeface="Calibri" pitchFamily="34" charset="-120"/>
              </a:rPr>
              <a:t>Soutenance de Projet  ·  2026</a:t>
            </a:r>
            <a:endParaRPr lang="en-US" sz="1400" dirty="0"/>
          </a:p>
        </p:txBody>
      </p:sp>
      <p:sp>
        <p:nvSpPr>
          <p:cNvPr id="11" name="Shape 9"/>
          <p:cNvSpPr/>
          <p:nvPr/>
        </p:nvSpPr>
        <p:spPr>
          <a:xfrm>
            <a:off x="457200" y="4343400"/>
            <a:ext cx="1536192" cy="384048"/>
          </a:xfrm>
          <a:prstGeom prst="rect">
            <a:avLst/>
          </a:prstGeom>
          <a:solidFill>
            <a:srgbClr val="2E4DA3"/>
          </a:solidFill>
          <a:ln w="12700">
            <a:solidFill>
              <a:srgbClr val="2E4DA3"/>
            </a:solidFill>
            <a:prstDash val="solid"/>
          </a:ln>
        </p:spPr>
      </p:sp>
      <p:sp>
        <p:nvSpPr>
          <p:cNvPr id="12" name="Text 10"/>
          <p:cNvSpPr/>
          <p:nvPr/>
        </p:nvSpPr>
        <p:spPr>
          <a:xfrm>
            <a:off x="457200" y="4343400"/>
            <a:ext cx="1536192"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FastAPI</a:t>
            </a:r>
            <a:endParaRPr lang="en-US" sz="1100" dirty="0"/>
          </a:p>
        </p:txBody>
      </p:sp>
      <p:sp>
        <p:nvSpPr>
          <p:cNvPr id="13" name="Shape 11"/>
          <p:cNvSpPr/>
          <p:nvPr/>
        </p:nvSpPr>
        <p:spPr>
          <a:xfrm>
            <a:off x="2121408" y="4343400"/>
            <a:ext cx="1536192" cy="384048"/>
          </a:xfrm>
          <a:prstGeom prst="rect">
            <a:avLst/>
          </a:prstGeom>
          <a:solidFill>
            <a:srgbClr val="2E4DA3"/>
          </a:solidFill>
          <a:ln w="12700">
            <a:solidFill>
              <a:srgbClr val="2E4DA3"/>
            </a:solidFill>
            <a:prstDash val="solid"/>
          </a:ln>
        </p:spPr>
      </p:sp>
      <p:sp>
        <p:nvSpPr>
          <p:cNvPr id="14" name="Text 12"/>
          <p:cNvSpPr/>
          <p:nvPr/>
        </p:nvSpPr>
        <p:spPr>
          <a:xfrm>
            <a:off x="2121408" y="4343400"/>
            <a:ext cx="1536192"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React Native</a:t>
            </a:r>
            <a:endParaRPr lang="en-US" sz="1100" dirty="0"/>
          </a:p>
        </p:txBody>
      </p:sp>
      <p:sp>
        <p:nvSpPr>
          <p:cNvPr id="15" name="Shape 13"/>
          <p:cNvSpPr/>
          <p:nvPr/>
        </p:nvSpPr>
        <p:spPr>
          <a:xfrm>
            <a:off x="3785616" y="4343400"/>
            <a:ext cx="1536192" cy="384048"/>
          </a:xfrm>
          <a:prstGeom prst="rect">
            <a:avLst/>
          </a:prstGeom>
          <a:solidFill>
            <a:srgbClr val="2E4DA3"/>
          </a:solidFill>
          <a:ln w="12700">
            <a:solidFill>
              <a:srgbClr val="2E4DA3"/>
            </a:solidFill>
            <a:prstDash val="solid"/>
          </a:ln>
        </p:spPr>
      </p:sp>
      <p:sp>
        <p:nvSpPr>
          <p:cNvPr id="16" name="Text 14"/>
          <p:cNvSpPr/>
          <p:nvPr/>
        </p:nvSpPr>
        <p:spPr>
          <a:xfrm>
            <a:off x="3785616" y="4343400"/>
            <a:ext cx="1536192"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MongoDB</a:t>
            </a:r>
            <a:endParaRPr lang="en-US" sz="1100" dirty="0"/>
          </a:p>
        </p:txBody>
      </p:sp>
      <p:sp>
        <p:nvSpPr>
          <p:cNvPr id="17" name="Shape 15"/>
          <p:cNvSpPr/>
          <p:nvPr/>
        </p:nvSpPr>
        <p:spPr>
          <a:xfrm>
            <a:off x="5449824" y="4343400"/>
            <a:ext cx="1536192" cy="384048"/>
          </a:xfrm>
          <a:prstGeom prst="rect">
            <a:avLst/>
          </a:prstGeom>
          <a:solidFill>
            <a:srgbClr val="2E4DA3"/>
          </a:solidFill>
          <a:ln w="12700">
            <a:solidFill>
              <a:srgbClr val="2E4DA3"/>
            </a:solidFill>
            <a:prstDash val="solid"/>
          </a:ln>
        </p:spPr>
      </p:sp>
      <p:sp>
        <p:nvSpPr>
          <p:cNvPr id="18" name="Text 16"/>
          <p:cNvSpPr/>
          <p:nvPr/>
        </p:nvSpPr>
        <p:spPr>
          <a:xfrm>
            <a:off x="5449824" y="4343400"/>
            <a:ext cx="1536192"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Claude AI</a:t>
            </a:r>
            <a:endParaRPr lang="en-US" sz="1100" dirty="0"/>
          </a:p>
        </p:txBody>
      </p:sp>
      <p:sp>
        <p:nvSpPr>
          <p:cNvPr id="19" name="Shape 17"/>
          <p:cNvSpPr/>
          <p:nvPr/>
        </p:nvSpPr>
        <p:spPr>
          <a:xfrm>
            <a:off x="7114032" y="4343400"/>
            <a:ext cx="1536192" cy="384048"/>
          </a:xfrm>
          <a:prstGeom prst="rect">
            <a:avLst/>
          </a:prstGeom>
          <a:solidFill>
            <a:srgbClr val="2E4DA3"/>
          </a:solidFill>
          <a:ln w="12700">
            <a:solidFill>
              <a:srgbClr val="2E4DA3"/>
            </a:solidFill>
            <a:prstDash val="solid"/>
          </a:ln>
        </p:spPr>
      </p:sp>
      <p:sp>
        <p:nvSpPr>
          <p:cNvPr id="20" name="Text 18"/>
          <p:cNvSpPr/>
          <p:nvPr/>
        </p:nvSpPr>
        <p:spPr>
          <a:xfrm>
            <a:off x="7114032" y="4343400"/>
            <a:ext cx="1536192"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OCR / NLP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La Problématique</a:t>
            </a:r>
            <a:endParaRPr lang="en-US" sz="3000" dirty="0"/>
          </a:p>
        </p:txBody>
      </p:sp>
      <p:sp>
        <p:nvSpPr>
          <p:cNvPr id="4" name="Shape 2"/>
          <p:cNvSpPr/>
          <p:nvPr/>
        </p:nvSpPr>
        <p:spPr>
          <a:xfrm>
            <a:off x="274320" y="960120"/>
            <a:ext cx="8595360" cy="64008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5" name="Shape 3"/>
          <p:cNvSpPr/>
          <p:nvPr/>
        </p:nvSpPr>
        <p:spPr>
          <a:xfrm>
            <a:off x="274320" y="960120"/>
            <a:ext cx="64008" cy="640080"/>
          </a:xfrm>
          <a:prstGeom prst="rect">
            <a:avLst/>
          </a:prstGeom>
          <a:solidFill>
            <a:srgbClr val="F5A623"/>
          </a:solidFill>
          <a:ln w="12700">
            <a:solidFill>
              <a:srgbClr val="F5A623"/>
            </a:solidFill>
            <a:prstDash val="solid"/>
          </a:ln>
        </p:spPr>
      </p:sp>
      <p:sp>
        <p:nvSpPr>
          <p:cNvPr id="6" name="Shape 4"/>
          <p:cNvSpPr/>
          <p:nvPr/>
        </p:nvSpPr>
        <p:spPr>
          <a:xfrm>
            <a:off x="438912" y="1051560"/>
            <a:ext cx="457200" cy="457200"/>
          </a:xfrm>
          <a:prstGeom prst="ellipse">
            <a:avLst/>
          </a:prstGeom>
          <a:solidFill>
            <a:srgbClr val="1B2A6B"/>
          </a:solidFill>
          <a:ln w="12700">
            <a:solidFill>
              <a:srgbClr val="1B2A6B"/>
            </a:solidFill>
            <a:prstDash val="solid"/>
          </a:ln>
        </p:spPr>
      </p:sp>
      <p:sp>
        <p:nvSpPr>
          <p:cNvPr id="7" name="Text 5"/>
          <p:cNvSpPr/>
          <p:nvPr/>
        </p:nvSpPr>
        <p:spPr>
          <a:xfrm>
            <a:off x="438912" y="105156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1005840" y="996696"/>
            <a:ext cx="7772400" cy="566928"/>
          </a:xfrm>
          <a:prstGeom prst="rect">
            <a:avLst/>
          </a:prstGeom>
          <a:noFill/>
          <a:ln/>
        </p:spPr>
        <p:txBody>
          <a:bodyPr wrap="square" rtlCol="0" anchor="ctr"/>
          <a:lstStyle/>
          <a:p>
            <a:pPr algn="l" indent="0" marL="0">
              <a:buNone/>
            </a:pPr>
            <a:r>
              <a:rPr lang="en-US" sz="1400" dirty="0">
                <a:solidFill>
                  <a:srgbClr val="1A2238"/>
                </a:solidFill>
                <a:latin typeface="Calibri" pitchFamily="34" charset="0"/>
                <a:ea typeface="Calibri" pitchFamily="34" charset="-122"/>
                <a:cs typeface="Calibri" pitchFamily="34" charset="-120"/>
              </a:rPr>
              <a:t>Les étudiants perdent un temps précieux à transcrire manuellement leurs cours manuscrits</a:t>
            </a:r>
            <a:endParaRPr lang="en-US" sz="1400" dirty="0"/>
          </a:p>
        </p:txBody>
      </p:sp>
      <p:sp>
        <p:nvSpPr>
          <p:cNvPr id="9" name="Shape 7"/>
          <p:cNvSpPr/>
          <p:nvPr/>
        </p:nvSpPr>
        <p:spPr>
          <a:xfrm>
            <a:off x="274320" y="1709928"/>
            <a:ext cx="8595360" cy="64008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0" name="Shape 8"/>
          <p:cNvSpPr/>
          <p:nvPr/>
        </p:nvSpPr>
        <p:spPr>
          <a:xfrm>
            <a:off x="274320" y="1709928"/>
            <a:ext cx="64008" cy="640080"/>
          </a:xfrm>
          <a:prstGeom prst="rect">
            <a:avLst/>
          </a:prstGeom>
          <a:solidFill>
            <a:srgbClr val="F5A623"/>
          </a:solidFill>
          <a:ln w="12700">
            <a:solidFill>
              <a:srgbClr val="F5A623"/>
            </a:solidFill>
            <a:prstDash val="solid"/>
          </a:ln>
        </p:spPr>
      </p:sp>
      <p:sp>
        <p:nvSpPr>
          <p:cNvPr id="11" name="Shape 9"/>
          <p:cNvSpPr/>
          <p:nvPr/>
        </p:nvSpPr>
        <p:spPr>
          <a:xfrm>
            <a:off x="438912" y="1801368"/>
            <a:ext cx="457200" cy="457200"/>
          </a:xfrm>
          <a:prstGeom prst="ellipse">
            <a:avLst/>
          </a:prstGeom>
          <a:solidFill>
            <a:srgbClr val="1B2A6B"/>
          </a:solidFill>
          <a:ln w="12700">
            <a:solidFill>
              <a:srgbClr val="1B2A6B"/>
            </a:solidFill>
            <a:prstDash val="solid"/>
          </a:ln>
        </p:spPr>
      </p:sp>
      <p:sp>
        <p:nvSpPr>
          <p:cNvPr id="12" name="Text 10"/>
          <p:cNvSpPr/>
          <p:nvPr/>
        </p:nvSpPr>
        <p:spPr>
          <a:xfrm>
            <a:off x="438912" y="180136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Text 11"/>
          <p:cNvSpPr/>
          <p:nvPr/>
        </p:nvSpPr>
        <p:spPr>
          <a:xfrm>
            <a:off x="1005840" y="1746504"/>
            <a:ext cx="7772400" cy="566928"/>
          </a:xfrm>
          <a:prstGeom prst="rect">
            <a:avLst/>
          </a:prstGeom>
          <a:noFill/>
          <a:ln/>
        </p:spPr>
        <p:txBody>
          <a:bodyPr wrap="square" rtlCol="0" anchor="ctr"/>
          <a:lstStyle/>
          <a:p>
            <a:pPr algn="l" indent="0" marL="0">
              <a:buNone/>
            </a:pPr>
            <a:r>
              <a:rPr lang="en-US" sz="1400" dirty="0">
                <a:solidFill>
                  <a:srgbClr val="1A2238"/>
                </a:solidFill>
                <a:latin typeface="Calibri" pitchFamily="34" charset="0"/>
                <a:ea typeface="Calibri" pitchFamily="34" charset="-122"/>
                <a:cs typeface="Calibri" pitchFamily="34" charset="-120"/>
              </a:rPr>
              <a:t>Les révisions sont peu optimisées — relire le même cours sans mémorisation ciblée est inefficace</a:t>
            </a:r>
            <a:endParaRPr lang="en-US" sz="1400" dirty="0"/>
          </a:p>
        </p:txBody>
      </p:sp>
      <p:sp>
        <p:nvSpPr>
          <p:cNvPr id="14" name="Shape 12"/>
          <p:cNvSpPr/>
          <p:nvPr/>
        </p:nvSpPr>
        <p:spPr>
          <a:xfrm>
            <a:off x="274320" y="2459736"/>
            <a:ext cx="8595360" cy="64008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5" name="Shape 13"/>
          <p:cNvSpPr/>
          <p:nvPr/>
        </p:nvSpPr>
        <p:spPr>
          <a:xfrm>
            <a:off x="274320" y="2459736"/>
            <a:ext cx="64008" cy="640080"/>
          </a:xfrm>
          <a:prstGeom prst="rect">
            <a:avLst/>
          </a:prstGeom>
          <a:solidFill>
            <a:srgbClr val="F5A623"/>
          </a:solidFill>
          <a:ln w="12700">
            <a:solidFill>
              <a:srgbClr val="F5A623"/>
            </a:solidFill>
            <a:prstDash val="solid"/>
          </a:ln>
        </p:spPr>
      </p:sp>
      <p:sp>
        <p:nvSpPr>
          <p:cNvPr id="16" name="Shape 14"/>
          <p:cNvSpPr/>
          <p:nvPr/>
        </p:nvSpPr>
        <p:spPr>
          <a:xfrm>
            <a:off x="438912" y="2551176"/>
            <a:ext cx="457200" cy="457200"/>
          </a:xfrm>
          <a:prstGeom prst="ellipse">
            <a:avLst/>
          </a:prstGeom>
          <a:solidFill>
            <a:srgbClr val="1B2A6B"/>
          </a:solidFill>
          <a:ln w="12700">
            <a:solidFill>
              <a:srgbClr val="1B2A6B"/>
            </a:solidFill>
            <a:prstDash val="solid"/>
          </a:ln>
        </p:spPr>
      </p:sp>
      <p:sp>
        <p:nvSpPr>
          <p:cNvPr id="17" name="Text 15"/>
          <p:cNvSpPr/>
          <p:nvPr/>
        </p:nvSpPr>
        <p:spPr>
          <a:xfrm>
            <a:off x="438912" y="255117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8" name="Text 16"/>
          <p:cNvSpPr/>
          <p:nvPr/>
        </p:nvSpPr>
        <p:spPr>
          <a:xfrm>
            <a:off x="1005840" y="2496312"/>
            <a:ext cx="7772400" cy="566928"/>
          </a:xfrm>
          <a:prstGeom prst="rect">
            <a:avLst/>
          </a:prstGeom>
          <a:noFill/>
          <a:ln/>
        </p:spPr>
        <p:txBody>
          <a:bodyPr wrap="square" rtlCol="0" anchor="ctr"/>
          <a:lstStyle/>
          <a:p>
            <a:pPr algn="l" indent="0" marL="0">
              <a:buNone/>
            </a:pPr>
            <a:r>
              <a:rPr lang="en-US" sz="1400" dirty="0">
                <a:solidFill>
                  <a:srgbClr val="1A2238"/>
                </a:solidFill>
                <a:latin typeface="Calibri" pitchFamily="34" charset="0"/>
                <a:ea typeface="Calibri" pitchFamily="34" charset="-122"/>
                <a:cs typeface="Calibri" pitchFamily="34" charset="-120"/>
              </a:rPr>
              <a:t>L'IA générative hallucine des informations non liées aux cours de l'étudiant</a:t>
            </a:r>
            <a:endParaRPr lang="en-US" sz="1400" dirty="0"/>
          </a:p>
        </p:txBody>
      </p:sp>
      <p:sp>
        <p:nvSpPr>
          <p:cNvPr id="19" name="Shape 17"/>
          <p:cNvSpPr/>
          <p:nvPr/>
        </p:nvSpPr>
        <p:spPr>
          <a:xfrm>
            <a:off x="274320" y="3209544"/>
            <a:ext cx="8595360" cy="64008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20" name="Shape 18"/>
          <p:cNvSpPr/>
          <p:nvPr/>
        </p:nvSpPr>
        <p:spPr>
          <a:xfrm>
            <a:off x="274320" y="3209544"/>
            <a:ext cx="64008" cy="640080"/>
          </a:xfrm>
          <a:prstGeom prst="rect">
            <a:avLst/>
          </a:prstGeom>
          <a:solidFill>
            <a:srgbClr val="F5A623"/>
          </a:solidFill>
          <a:ln w="12700">
            <a:solidFill>
              <a:srgbClr val="F5A623"/>
            </a:solidFill>
            <a:prstDash val="solid"/>
          </a:ln>
        </p:spPr>
      </p:sp>
      <p:sp>
        <p:nvSpPr>
          <p:cNvPr id="21" name="Shape 19"/>
          <p:cNvSpPr/>
          <p:nvPr/>
        </p:nvSpPr>
        <p:spPr>
          <a:xfrm>
            <a:off x="438912" y="3300984"/>
            <a:ext cx="457200" cy="457200"/>
          </a:xfrm>
          <a:prstGeom prst="ellipse">
            <a:avLst/>
          </a:prstGeom>
          <a:solidFill>
            <a:srgbClr val="1B2A6B"/>
          </a:solidFill>
          <a:ln w="12700">
            <a:solidFill>
              <a:srgbClr val="1B2A6B"/>
            </a:solidFill>
            <a:prstDash val="solid"/>
          </a:ln>
        </p:spPr>
      </p:sp>
      <p:sp>
        <p:nvSpPr>
          <p:cNvPr id="22" name="Text 20"/>
          <p:cNvSpPr/>
          <p:nvPr/>
        </p:nvSpPr>
        <p:spPr>
          <a:xfrm>
            <a:off x="438912" y="3300984"/>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3" name="Text 21"/>
          <p:cNvSpPr/>
          <p:nvPr/>
        </p:nvSpPr>
        <p:spPr>
          <a:xfrm>
            <a:off x="1005840" y="3246120"/>
            <a:ext cx="7772400" cy="566928"/>
          </a:xfrm>
          <a:prstGeom prst="rect">
            <a:avLst/>
          </a:prstGeom>
          <a:noFill/>
          <a:ln/>
        </p:spPr>
        <p:txBody>
          <a:bodyPr wrap="square" rtlCol="0" anchor="ctr"/>
          <a:lstStyle/>
          <a:p>
            <a:pPr algn="l" indent="0" marL="0">
              <a:buNone/>
            </a:pPr>
            <a:r>
              <a:rPr lang="en-US" sz="1400" dirty="0">
                <a:solidFill>
                  <a:srgbClr val="1A2238"/>
                </a:solidFill>
                <a:latin typeface="Calibri" pitchFamily="34" charset="0"/>
                <a:ea typeface="Calibri" pitchFamily="34" charset="-122"/>
                <a:cs typeface="Calibri" pitchFamily="34" charset="-120"/>
              </a:rPr>
              <a:t>Aucun outil mobile simple ne transforme une photo de tableau en fiche de révision intelligente</a:t>
            </a:r>
            <a:endParaRPr lang="en-US" sz="1400" dirty="0"/>
          </a:p>
        </p:txBody>
      </p:sp>
      <p:sp>
        <p:nvSpPr>
          <p:cNvPr id="24" name="Shape 22"/>
          <p:cNvSpPr/>
          <p:nvPr/>
        </p:nvSpPr>
        <p:spPr>
          <a:xfrm>
            <a:off x="274320" y="4114800"/>
            <a:ext cx="8595360" cy="868680"/>
          </a:xfrm>
          <a:prstGeom prst="rect">
            <a:avLst/>
          </a:prstGeom>
          <a:solidFill>
            <a:srgbClr val="1B2A6B"/>
          </a:solidFill>
          <a:ln w="12700">
            <a:solidFill>
              <a:srgbClr val="1B2A6B"/>
            </a:solidFill>
            <a:prstDash val="solid"/>
          </a:ln>
        </p:spPr>
      </p:sp>
      <p:sp>
        <p:nvSpPr>
          <p:cNvPr id="25" name="Text 23"/>
          <p:cNvSpPr/>
          <p:nvPr/>
        </p:nvSpPr>
        <p:spPr>
          <a:xfrm>
            <a:off x="457200" y="4133088"/>
            <a:ext cx="8229600" cy="832104"/>
          </a:xfrm>
          <a:prstGeom prst="rect">
            <a:avLst/>
          </a:prstGeom>
          <a:noFill/>
          <a:ln/>
        </p:spPr>
        <p:txBody>
          <a:bodyPr wrap="square" rtlCol="0" anchor="ctr"/>
          <a:lstStyle/>
          <a:p>
            <a:pPr algn="ctr" indent="0" marL="0">
              <a:buNone/>
            </a:pPr>
            <a:r>
              <a:rPr lang="en-US" sz="1500" b="1" dirty="0">
                <a:solidFill>
                  <a:srgbClr val="F5A623"/>
                </a:solidFill>
                <a:latin typeface="Calibri" pitchFamily="34" charset="0"/>
                <a:ea typeface="Calibri" pitchFamily="34" charset="-122"/>
                <a:cs typeface="Calibri" pitchFamily="34" charset="-120"/>
              </a:rPr>
              <a:t>Comment transformer une simple photo de cours</a:t>
            </a:r>
            <a:endParaRPr lang="en-US" sz="1500" dirty="0"/>
          </a:p>
          <a:p>
            <a:pPr algn="ctr" indent="0" marL="0">
              <a:buNone/>
            </a:pPr>
            <a:r>
              <a:rPr lang="en-US" sz="1500" b="1" dirty="0">
                <a:solidFill>
                  <a:srgbClr val="F5A623"/>
                </a:solidFill>
                <a:latin typeface="Calibri" pitchFamily="34" charset="0"/>
                <a:ea typeface="Calibri" pitchFamily="34" charset="-122"/>
                <a:cs typeface="Calibri" pitchFamily="34" charset="-120"/>
              </a:rPr>
              <a:t>en un outil d'apprentissage personnalisé et intelligent ?</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PicLearn — La Solution</a:t>
            </a:r>
            <a:endParaRPr lang="en-US" sz="2800" dirty="0"/>
          </a:p>
        </p:txBody>
      </p:sp>
      <p:sp>
        <p:nvSpPr>
          <p:cNvPr id="4" name="Shape 2"/>
          <p:cNvSpPr/>
          <p:nvPr/>
        </p:nvSpPr>
        <p:spPr>
          <a:xfrm>
            <a:off x="201168" y="960120"/>
            <a:ext cx="2816352" cy="404164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5" name="Shape 3"/>
          <p:cNvSpPr/>
          <p:nvPr/>
        </p:nvSpPr>
        <p:spPr>
          <a:xfrm>
            <a:off x="201168" y="960120"/>
            <a:ext cx="2816352" cy="685800"/>
          </a:xfrm>
          <a:prstGeom prst="rect">
            <a:avLst/>
          </a:prstGeom>
          <a:solidFill>
            <a:srgbClr val="1B2A6B"/>
          </a:solidFill>
          <a:ln w="12700">
            <a:solidFill>
              <a:srgbClr val="1B2A6B"/>
            </a:solidFill>
            <a:prstDash val="solid"/>
          </a:ln>
        </p:spPr>
      </p:sp>
      <p:sp>
        <p:nvSpPr>
          <p:cNvPr id="6" name="Shape 4"/>
          <p:cNvSpPr/>
          <p:nvPr/>
        </p:nvSpPr>
        <p:spPr>
          <a:xfrm>
            <a:off x="2487168" y="822960"/>
            <a:ext cx="420624" cy="420624"/>
          </a:xfrm>
          <a:prstGeom prst="ellipse">
            <a:avLst/>
          </a:prstGeom>
          <a:solidFill>
            <a:srgbClr val="F5A623"/>
          </a:solidFill>
          <a:ln w="12700">
            <a:solidFill>
              <a:srgbClr val="F5A623"/>
            </a:solidFill>
            <a:prstDash val="solid"/>
          </a:ln>
        </p:spPr>
      </p:sp>
      <p:sp>
        <p:nvSpPr>
          <p:cNvPr id="7" name="Text 5"/>
          <p:cNvSpPr/>
          <p:nvPr/>
        </p:nvSpPr>
        <p:spPr>
          <a:xfrm>
            <a:off x="2487168" y="822960"/>
            <a:ext cx="420624" cy="420624"/>
          </a:xfrm>
          <a:prstGeom prst="rect">
            <a:avLst/>
          </a:prstGeom>
          <a:noFill/>
          <a:ln/>
        </p:spPr>
        <p:txBody>
          <a:bodyPr wrap="square" lIns="0" tIns="0" rIns="0" bIns="0" rtlCol="0" anchor="ctr"/>
          <a:lstStyle/>
          <a:p>
            <a:pPr algn="ctr" indent="0" marL="0">
              <a:buNone/>
            </a:pPr>
            <a:r>
              <a:rPr lang="en-US" sz="1012" b="1" dirty="0">
                <a:solidFill>
                  <a:srgbClr val="1B2A6B"/>
                </a:solidFill>
              </a:rPr>
              <a:t>1</a:t>
            </a:r>
            <a:endParaRPr lang="en-US" sz="1012" dirty="0"/>
          </a:p>
        </p:txBody>
      </p:sp>
      <p:sp>
        <p:nvSpPr>
          <p:cNvPr id="8" name="Text 6"/>
          <p:cNvSpPr/>
          <p:nvPr/>
        </p:nvSpPr>
        <p:spPr>
          <a:xfrm>
            <a:off x="201168" y="960120"/>
            <a:ext cx="2816352" cy="685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Capturer</a:t>
            </a:r>
            <a:endParaRPr lang="en-US" sz="1800" dirty="0"/>
          </a:p>
        </p:txBody>
      </p:sp>
      <p:sp>
        <p:nvSpPr>
          <p:cNvPr id="9" name="Text 7"/>
          <p:cNvSpPr/>
          <p:nvPr/>
        </p:nvSpPr>
        <p:spPr>
          <a:xfrm>
            <a:off x="338328" y="1755648"/>
            <a:ext cx="2542032" cy="3154680"/>
          </a:xfrm>
          <a:prstGeom prst="rect">
            <a:avLst/>
          </a:prstGeom>
          <a:noFill/>
          <a:ln/>
        </p:spPr>
        <p:txBody>
          <a:bodyPr wrap="square" rtlCol="0" anchor="t"/>
          <a:lstStyle/>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Photo du tableau / cours manuscrit</a:t>
            </a:r>
            <a:endParaRPr lang="en-US" sz="1300" dirty="0"/>
          </a:p>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OCR multi-moteur (EasyOCR, PaddleOCR)</a:t>
            </a:r>
            <a:endParaRPr lang="en-US" sz="1300" dirty="0"/>
          </a:p>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Formules mathématiques → LaTeX (Pix2Tex)</a:t>
            </a:r>
            <a:endParaRPr lang="en-US" sz="1300" dirty="0"/>
          </a:p>
        </p:txBody>
      </p:sp>
      <p:sp>
        <p:nvSpPr>
          <p:cNvPr id="10" name="Shape 8"/>
          <p:cNvSpPr/>
          <p:nvPr/>
        </p:nvSpPr>
        <p:spPr>
          <a:xfrm>
            <a:off x="3145536" y="960120"/>
            <a:ext cx="2816352" cy="404164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1" name="Shape 9"/>
          <p:cNvSpPr/>
          <p:nvPr/>
        </p:nvSpPr>
        <p:spPr>
          <a:xfrm>
            <a:off x="3145536" y="960120"/>
            <a:ext cx="2816352" cy="685800"/>
          </a:xfrm>
          <a:prstGeom prst="rect">
            <a:avLst/>
          </a:prstGeom>
          <a:solidFill>
            <a:srgbClr val="2E4DA3"/>
          </a:solidFill>
          <a:ln w="12700">
            <a:solidFill>
              <a:srgbClr val="2E4DA3"/>
            </a:solidFill>
            <a:prstDash val="solid"/>
          </a:ln>
        </p:spPr>
      </p:sp>
      <p:sp>
        <p:nvSpPr>
          <p:cNvPr id="12" name="Shape 10"/>
          <p:cNvSpPr/>
          <p:nvPr/>
        </p:nvSpPr>
        <p:spPr>
          <a:xfrm>
            <a:off x="5431536" y="822960"/>
            <a:ext cx="420624" cy="420624"/>
          </a:xfrm>
          <a:prstGeom prst="ellipse">
            <a:avLst/>
          </a:prstGeom>
          <a:solidFill>
            <a:srgbClr val="F5A623"/>
          </a:solidFill>
          <a:ln w="12700">
            <a:solidFill>
              <a:srgbClr val="F5A623"/>
            </a:solidFill>
            <a:prstDash val="solid"/>
          </a:ln>
        </p:spPr>
      </p:sp>
      <p:sp>
        <p:nvSpPr>
          <p:cNvPr id="13" name="Text 11"/>
          <p:cNvSpPr/>
          <p:nvPr/>
        </p:nvSpPr>
        <p:spPr>
          <a:xfrm>
            <a:off x="5431536" y="822960"/>
            <a:ext cx="420624" cy="420624"/>
          </a:xfrm>
          <a:prstGeom prst="rect">
            <a:avLst/>
          </a:prstGeom>
          <a:noFill/>
          <a:ln/>
        </p:spPr>
        <p:txBody>
          <a:bodyPr wrap="square" lIns="0" tIns="0" rIns="0" bIns="0" rtlCol="0" anchor="ctr"/>
          <a:lstStyle/>
          <a:p>
            <a:pPr algn="ctr" indent="0" marL="0">
              <a:buNone/>
            </a:pPr>
            <a:r>
              <a:rPr lang="en-US" sz="1012" b="1" dirty="0">
                <a:solidFill>
                  <a:srgbClr val="1B2A6B"/>
                </a:solidFill>
              </a:rPr>
              <a:t>2</a:t>
            </a:r>
            <a:endParaRPr lang="en-US" sz="1012" dirty="0"/>
          </a:p>
        </p:txBody>
      </p:sp>
      <p:sp>
        <p:nvSpPr>
          <p:cNvPr id="14" name="Text 12"/>
          <p:cNvSpPr/>
          <p:nvPr/>
        </p:nvSpPr>
        <p:spPr>
          <a:xfrm>
            <a:off x="3145536" y="960120"/>
            <a:ext cx="2816352" cy="685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Structurer</a:t>
            </a:r>
            <a:endParaRPr lang="en-US" sz="1800" dirty="0"/>
          </a:p>
        </p:txBody>
      </p:sp>
      <p:sp>
        <p:nvSpPr>
          <p:cNvPr id="15" name="Text 13"/>
          <p:cNvSpPr/>
          <p:nvPr/>
        </p:nvSpPr>
        <p:spPr>
          <a:xfrm>
            <a:off x="3282696" y="1755648"/>
            <a:ext cx="2542032" cy="3154680"/>
          </a:xfrm>
          <a:prstGeom prst="rect">
            <a:avLst/>
          </a:prstGeom>
          <a:noFill/>
          <a:ln/>
        </p:spPr>
        <p:txBody>
          <a:bodyPr wrap="square" rtlCol="0" anchor="t"/>
          <a:lstStyle/>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Pipeline IA : Résumé automatique</a:t>
            </a:r>
            <a:endParaRPr lang="en-US" sz="1300" dirty="0"/>
          </a:p>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Génération de QCM et Flashcards</a:t>
            </a:r>
            <a:endParaRPr lang="en-US" sz="1300" dirty="0"/>
          </a:p>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Classification automatique de la matière</a:t>
            </a:r>
            <a:endParaRPr lang="en-US" sz="1300" dirty="0"/>
          </a:p>
        </p:txBody>
      </p:sp>
      <p:sp>
        <p:nvSpPr>
          <p:cNvPr id="16" name="Shape 14"/>
          <p:cNvSpPr/>
          <p:nvPr/>
        </p:nvSpPr>
        <p:spPr>
          <a:xfrm>
            <a:off x="6089904" y="960120"/>
            <a:ext cx="2816352" cy="404164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7" name="Shape 15"/>
          <p:cNvSpPr/>
          <p:nvPr/>
        </p:nvSpPr>
        <p:spPr>
          <a:xfrm>
            <a:off x="6089904" y="960120"/>
            <a:ext cx="2816352" cy="685800"/>
          </a:xfrm>
          <a:prstGeom prst="rect">
            <a:avLst/>
          </a:prstGeom>
          <a:solidFill>
            <a:srgbClr val="0D9488"/>
          </a:solidFill>
          <a:ln w="12700">
            <a:solidFill>
              <a:srgbClr val="0D9488"/>
            </a:solidFill>
            <a:prstDash val="solid"/>
          </a:ln>
        </p:spPr>
      </p:sp>
      <p:sp>
        <p:nvSpPr>
          <p:cNvPr id="18" name="Shape 16"/>
          <p:cNvSpPr/>
          <p:nvPr/>
        </p:nvSpPr>
        <p:spPr>
          <a:xfrm>
            <a:off x="8375904" y="822960"/>
            <a:ext cx="420624" cy="420624"/>
          </a:xfrm>
          <a:prstGeom prst="ellipse">
            <a:avLst/>
          </a:prstGeom>
          <a:solidFill>
            <a:srgbClr val="F5A623"/>
          </a:solidFill>
          <a:ln w="12700">
            <a:solidFill>
              <a:srgbClr val="F5A623"/>
            </a:solidFill>
            <a:prstDash val="solid"/>
          </a:ln>
        </p:spPr>
      </p:sp>
      <p:sp>
        <p:nvSpPr>
          <p:cNvPr id="19" name="Text 17"/>
          <p:cNvSpPr/>
          <p:nvPr/>
        </p:nvSpPr>
        <p:spPr>
          <a:xfrm>
            <a:off x="8375904" y="822960"/>
            <a:ext cx="420624" cy="420624"/>
          </a:xfrm>
          <a:prstGeom prst="rect">
            <a:avLst/>
          </a:prstGeom>
          <a:noFill/>
          <a:ln/>
        </p:spPr>
        <p:txBody>
          <a:bodyPr wrap="square" lIns="0" tIns="0" rIns="0" bIns="0" rtlCol="0" anchor="ctr"/>
          <a:lstStyle/>
          <a:p>
            <a:pPr algn="ctr" indent="0" marL="0">
              <a:buNone/>
            </a:pPr>
            <a:r>
              <a:rPr lang="en-US" sz="1012" b="1" dirty="0">
                <a:solidFill>
                  <a:srgbClr val="1B2A6B"/>
                </a:solidFill>
              </a:rPr>
              <a:t>3</a:t>
            </a:r>
            <a:endParaRPr lang="en-US" sz="1012" dirty="0"/>
          </a:p>
        </p:txBody>
      </p:sp>
      <p:sp>
        <p:nvSpPr>
          <p:cNvPr id="20" name="Text 18"/>
          <p:cNvSpPr/>
          <p:nvPr/>
        </p:nvSpPr>
        <p:spPr>
          <a:xfrm>
            <a:off x="6089904" y="960120"/>
            <a:ext cx="2816352" cy="685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Réviser</a:t>
            </a:r>
            <a:endParaRPr lang="en-US" sz="1800" dirty="0"/>
          </a:p>
        </p:txBody>
      </p:sp>
      <p:sp>
        <p:nvSpPr>
          <p:cNvPr id="21" name="Text 19"/>
          <p:cNvSpPr/>
          <p:nvPr/>
        </p:nvSpPr>
        <p:spPr>
          <a:xfrm>
            <a:off x="6227064" y="1755648"/>
            <a:ext cx="2542032" cy="3154680"/>
          </a:xfrm>
          <a:prstGeom prst="rect">
            <a:avLst/>
          </a:prstGeom>
          <a:noFill/>
          <a:ln/>
        </p:spPr>
        <p:txBody>
          <a:bodyPr wrap="square" rtlCol="0" anchor="t"/>
          <a:lstStyle/>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Répétition espacée (SuperMemo 2)</a:t>
            </a:r>
            <a:endParaRPr lang="en-US" sz="1300" dirty="0"/>
          </a:p>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Assistant RAG sur VOS notes uniquement</a:t>
            </a:r>
            <a:endParaRPr lang="en-US" sz="1300" dirty="0"/>
          </a:p>
          <a:p>
            <a:pPr marL="342900" indent="-342900">
              <a:spcAft>
                <a:spcPts val="1000"/>
              </a:spcAft>
              <a:buSzPct val="100000"/>
              <a:buChar char="•"/>
            </a:pPr>
            <a:r>
              <a:rPr lang="en-US" sz="1300" dirty="0">
                <a:solidFill>
                  <a:srgbClr val="1A2238"/>
                </a:solidFill>
                <a:latin typeface="Calibri" pitchFamily="34" charset="0"/>
                <a:ea typeface="Calibri" pitchFamily="34" charset="-122"/>
                <a:cs typeface="Calibri" pitchFamily="34" charset="-120"/>
              </a:rPr>
              <a:t>Statistiques de progression personnalisées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4A"/>
        </a:solidFill>
      </p:bgPr>
    </p:bg>
    <p:spTree>
      <p:nvGrpSpPr>
        <p:cNvPr id="1" name=""/>
        <p:cNvGrpSpPr/>
        <p:nvPr/>
      </p:nvGrpSpPr>
      <p:grpSpPr>
        <a:xfrm>
          <a:off x="0" y="0"/>
          <a:ext cx="0" cy="0"/>
          <a:chOff x="0" y="0"/>
          <a:chExt cx="0" cy="0"/>
        </a:xfrm>
      </p:grpSpPr>
      <p:sp>
        <p:nvSpPr>
          <p:cNvPr id="2" name="Text 0"/>
          <p:cNvSpPr/>
          <p:nvPr/>
        </p:nvSpPr>
        <p:spPr>
          <a:xfrm>
            <a:off x="457200" y="109728"/>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Architecture du Système</a:t>
            </a:r>
            <a:endParaRPr lang="en-US" sz="2800" dirty="0"/>
          </a:p>
        </p:txBody>
      </p:sp>
      <p:sp>
        <p:nvSpPr>
          <p:cNvPr id="3" name="Shape 1"/>
          <p:cNvSpPr/>
          <p:nvPr/>
        </p:nvSpPr>
        <p:spPr>
          <a:xfrm>
            <a:off x="457200" y="749808"/>
            <a:ext cx="2011680" cy="45720"/>
          </a:xfrm>
          <a:prstGeom prst="rect">
            <a:avLst/>
          </a:prstGeom>
          <a:solidFill>
            <a:srgbClr val="F5A623"/>
          </a:solidFill>
          <a:ln w="12700">
            <a:solidFill>
              <a:srgbClr val="F5A623"/>
            </a:solidFill>
            <a:prstDash val="solid"/>
          </a:ln>
        </p:spPr>
      </p:sp>
      <p:sp>
        <p:nvSpPr>
          <p:cNvPr id="4" name="Shape 2"/>
          <p:cNvSpPr/>
          <p:nvPr/>
        </p:nvSpPr>
        <p:spPr>
          <a:xfrm>
            <a:off x="274320" y="914400"/>
            <a:ext cx="4114800" cy="4069080"/>
          </a:xfrm>
          <a:prstGeom prst="rect">
            <a:avLst/>
          </a:prstGeom>
          <a:solidFill>
            <a:srgbClr val="162050"/>
          </a:solidFill>
          <a:ln w="12700">
            <a:solidFill>
              <a:srgbClr val="2E4DA3"/>
            </a:solidFill>
            <a:prstDash val="solid"/>
          </a:ln>
        </p:spPr>
      </p:sp>
      <p:sp>
        <p:nvSpPr>
          <p:cNvPr id="5" name="Text 3"/>
          <p:cNvSpPr/>
          <p:nvPr/>
        </p:nvSpPr>
        <p:spPr>
          <a:xfrm>
            <a:off x="457200" y="1024128"/>
            <a:ext cx="3749040" cy="3840480"/>
          </a:xfrm>
          <a:prstGeom prst="rect">
            <a:avLst/>
          </a:prstGeom>
          <a:noFill/>
          <a:ln/>
        </p:spPr>
        <p:txBody>
          <a:bodyPr wrap="square" rtlCol="0" anchor="t"/>
          <a:lstStyle/>
          <a:p>
            <a:pPr indent="0" marL="0">
              <a:buNone/>
            </a:pPr>
            <a:r>
              <a:rPr lang="en-US" sz="1200" b="1" dirty="0">
                <a:solidFill>
                  <a:srgbClr val="F5A623"/>
                </a:solidFill>
                <a:latin typeface="Consolas" pitchFamily="34" charset="0"/>
                <a:ea typeface="Consolas" pitchFamily="34" charset="-122"/>
                <a:cs typeface="Consolas" pitchFamily="34" charset="-120"/>
              </a:rPr>
              <a:t>[ Mobile App — Expo / React Native ]</a:t>
            </a:r>
            <a:endParaRPr lang="en-US" sz="1200" dirty="0"/>
          </a:p>
          <a:p>
            <a:pPr indent="0" marL="0">
              <a:buNone/>
            </a:pPr>
            <a:r>
              <a:rPr lang="en-US" sz="1100" dirty="0">
                <a:solidFill>
                  <a:srgbClr val="7A92C8"/>
                </a:solidFill>
                <a:latin typeface="Consolas" pitchFamily="34" charset="0"/>
                <a:ea typeface="Consolas" pitchFamily="34" charset="-122"/>
                <a:cs typeface="Consolas" pitchFamily="34" charset="-120"/>
              </a:rPr>
              <a:t>         REST API / JWT  ↕</a:t>
            </a:r>
            <a:endParaRPr lang="en-US" sz="1200" dirty="0"/>
          </a:p>
          <a:p>
            <a:pPr indent="0" marL="0">
              <a:buNone/>
            </a:pPr>
            <a:r>
              <a:rPr lang="en-US" sz="1200" b="1" dirty="0">
                <a:solidFill>
                  <a:srgbClr val="5BA4F5"/>
                </a:solidFill>
                <a:latin typeface="Consolas" pitchFamily="34" charset="0"/>
                <a:ea typeface="Consolas" pitchFamily="34" charset="-122"/>
                <a:cs typeface="Consolas" pitchFamily="34" charset="-120"/>
              </a:rPr>
              <a:t>[ Backend FastAPI — Python 3.13 ]</a:t>
            </a:r>
            <a:endParaRPr lang="en-US" sz="1200" dirty="0"/>
          </a:p>
          <a:p>
            <a:pPr indent="0" marL="0">
              <a:buNone/>
            </a:pPr>
            <a:r>
              <a:rPr lang="en-US" sz="1100" dirty="0">
                <a:solidFill>
                  <a:srgbClr val="7A92C8"/>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5BF5C4"/>
                </a:solidFill>
                <a:latin typeface="Consolas" pitchFamily="34" charset="0"/>
                <a:ea typeface="Consolas" pitchFamily="34" charset="-122"/>
                <a:cs typeface="Consolas" pitchFamily="34" charset="-120"/>
              </a:rPr>
              <a:t>[ Pipeline IA ]</a:t>
            </a:r>
            <a:endParaRPr lang="en-US" sz="1200" dirty="0"/>
          </a:p>
          <a:p>
            <a:pPr indent="0" marL="0">
              <a:buNone/>
            </a:pPr>
            <a:r>
              <a:rPr lang="en-US" sz="1100" dirty="0">
                <a:solidFill>
                  <a:srgbClr val="A0C4F4"/>
                </a:solidFill>
                <a:latin typeface="Consolas" pitchFamily="34" charset="0"/>
                <a:ea typeface="Consolas" pitchFamily="34" charset="-122"/>
                <a:cs typeface="Consolas" pitchFamily="34" charset="-120"/>
              </a:rPr>
              <a:t>  image_processor (OpenCV)</a:t>
            </a:r>
            <a:endParaRPr lang="en-US" sz="1200" dirty="0"/>
          </a:p>
          <a:p>
            <a:pPr indent="0" marL="0">
              <a:buNone/>
            </a:pPr>
            <a:r>
              <a:rPr lang="en-US" sz="1100" dirty="0">
                <a:solidFill>
                  <a:srgbClr val="A0C4F4"/>
                </a:solidFill>
                <a:latin typeface="Consolas" pitchFamily="34" charset="0"/>
                <a:ea typeface="Consolas" pitchFamily="34" charset="-122"/>
                <a:cs typeface="Consolas" pitchFamily="34" charset="-120"/>
              </a:rPr>
              <a:t>  ocr_service (EasyOCR / PaddleOCR)</a:t>
            </a:r>
            <a:endParaRPr lang="en-US" sz="1200" dirty="0"/>
          </a:p>
          <a:p>
            <a:pPr indent="0" marL="0">
              <a:buNone/>
            </a:pPr>
            <a:r>
              <a:rPr lang="en-US" sz="1100" dirty="0">
                <a:solidFill>
                  <a:srgbClr val="A0C4F4"/>
                </a:solidFill>
                <a:latin typeface="Consolas" pitchFamily="34" charset="0"/>
                <a:ea typeface="Consolas" pitchFamily="34" charset="-122"/>
                <a:cs typeface="Consolas" pitchFamily="34" charset="-120"/>
              </a:rPr>
              <a:t>  latex_service (Pix2Tex)</a:t>
            </a:r>
            <a:endParaRPr lang="en-US" sz="1200" dirty="0"/>
          </a:p>
          <a:p>
            <a:pPr indent="0" marL="0">
              <a:buNone/>
            </a:pPr>
            <a:r>
              <a:rPr lang="en-US" sz="1100" dirty="0">
                <a:solidFill>
                  <a:srgbClr val="A0C4F4"/>
                </a:solidFill>
                <a:latin typeface="Consolas" pitchFamily="34" charset="0"/>
                <a:ea typeface="Consolas" pitchFamily="34" charset="-122"/>
                <a:cs typeface="Consolas" pitchFamily="34" charset="-120"/>
              </a:rPr>
              <a:t>  llm_service (Claude / OpenAI)</a:t>
            </a:r>
            <a:endParaRPr lang="en-US" sz="1200" dirty="0"/>
          </a:p>
          <a:p>
            <a:pPr indent="0" marL="0">
              <a:buNone/>
            </a:pPr>
            <a:r>
              <a:rPr lang="en-US" sz="1100" dirty="0">
                <a:solidFill>
                  <a:srgbClr val="A0C4F4"/>
                </a:solidFill>
                <a:latin typeface="Consolas" pitchFamily="34" charset="0"/>
                <a:ea typeface="Consolas" pitchFamily="34" charset="-122"/>
                <a:cs typeface="Consolas" pitchFamily="34" charset="-120"/>
              </a:rPr>
              <a:t>  rag_service (ChromaDB)</a:t>
            </a:r>
            <a:endParaRPr lang="en-US" sz="1200" dirty="0"/>
          </a:p>
          <a:p>
            <a:pPr indent="0" marL="0">
              <a:buNone/>
            </a:pPr>
            <a:r>
              <a:rPr lang="en-US" sz="1100" dirty="0">
                <a:solidFill>
                  <a:srgbClr val="A0C4F4"/>
                </a:solidFill>
                <a:latin typeface="Consolas" pitchFamily="34" charset="0"/>
                <a:ea typeface="Consolas" pitchFamily="34" charset="-122"/>
                <a:cs typeface="Consolas" pitchFamily="34" charset="-120"/>
              </a:rPr>
              <a:t>  adaptive_learning (SM-2)</a:t>
            </a:r>
            <a:endParaRPr lang="en-US" sz="1200" dirty="0"/>
          </a:p>
          <a:p>
            <a:pPr indent="0" marL="0">
              <a:buNone/>
            </a:pPr>
            <a:r>
              <a:rPr lang="en-US" sz="1100" dirty="0">
                <a:solidFill>
                  <a:srgbClr val="7A92C8"/>
                </a:solidFill>
                <a:latin typeface="Consolas" pitchFamily="34" charset="0"/>
                <a:ea typeface="Consolas" pitchFamily="34" charset="-122"/>
                <a:cs typeface="Consolas" pitchFamily="34" charset="-120"/>
              </a:rPr>
              <a:t>              ↓</a:t>
            </a:r>
            <a:endParaRPr lang="en-US" sz="1200" dirty="0"/>
          </a:p>
          <a:p>
            <a:pPr indent="0" marL="0">
              <a:buNone/>
            </a:pPr>
            <a:r>
              <a:rPr lang="en-US" sz="1200" b="1" dirty="0">
                <a:solidFill>
                  <a:srgbClr val="F5A623"/>
                </a:solidFill>
                <a:latin typeface="Consolas" pitchFamily="34" charset="0"/>
                <a:ea typeface="Consolas" pitchFamily="34" charset="-122"/>
                <a:cs typeface="Consolas" pitchFamily="34" charset="-120"/>
              </a:rPr>
              <a:t>[ MongoDB + GridFS ]</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663440" y="914400"/>
          <a:ext cx="4206240" cy="4069080"/>
        </p:xfrm>
        <a:graphic>
          <a:graphicData uri="http://schemas.openxmlformats.org/drawingml/2006/table">
            <a:tbl>
              <a:tblPr/>
              <a:tblGrid>
                <a:gridCol w="1645920"/>
                <a:gridCol w="2560320"/>
              </a:tblGrid>
              <a:tr h="508635">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Couche</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2E4DA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Technologie</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2E4DA3"/>
                    </a:solidFill>
                  </a:tcPr>
                </a:tc>
              </a:tr>
              <a:tr h="508635">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Frontend Mobile</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A2D6E"/>
                    </a:solidFill>
                  </a:tcPr>
                </a:tc>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React Native / Expo SDK 54</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A2D6E"/>
                    </a:solidFill>
                  </a:tcPr>
                </a:tc>
              </a:tr>
              <a:tr h="508635">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Routage</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92960"/>
                    </a:solidFill>
                  </a:tcPr>
                </a:tc>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Expo Router 6 (file-based)</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92960"/>
                    </a:solidFill>
                  </a:tcPr>
                </a:tc>
              </a:tr>
              <a:tr h="508635">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Backend API</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A2D6E"/>
                    </a:solidFill>
                  </a:tcPr>
                </a:tc>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FastAPI + Python 3.13</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A2D6E"/>
                    </a:solidFill>
                  </a:tcPr>
                </a:tc>
              </a:tr>
              <a:tr h="508635">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Base de données</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92960"/>
                    </a:solidFill>
                  </a:tcPr>
                </a:tc>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MongoDB + GridFS</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92960"/>
                    </a:solidFill>
                  </a:tcPr>
                </a:tc>
              </a:tr>
              <a:tr h="508635">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Vector Store</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A2D6E"/>
                    </a:solidFill>
                  </a:tcPr>
                </a:tc>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ChromaDB (RAG local)</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A2D6E"/>
                    </a:solidFill>
                  </a:tcPr>
                </a:tc>
              </a:tr>
              <a:tr h="508635">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IA / LLM</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92960"/>
                    </a:solidFill>
                  </a:tcPr>
                </a:tc>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Claude Sonnet 4.6 / OpenAI / Gemini</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92960"/>
                    </a:solidFill>
                  </a:tcPr>
                </a:tc>
              </a:tr>
              <a:tr h="508635">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OCR</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A2D6E"/>
                    </a:solidFill>
                  </a:tcPr>
                </a:tc>
                <a:tc>
                  <a:txBody>
                    <a:bodyPr/>
                    <a:lstStyle/>
                    <a:p>
                      <a:pPr indent="0" marL="0">
                        <a:buNone/>
                      </a:pPr>
                      <a:r>
                        <a:rPr lang="en-US" sz="1100" dirty="0">
                          <a:solidFill>
                            <a:srgbClr val="C0D4FF"/>
                          </a:solidFill>
                          <a:latin typeface="Calibri" pitchFamily="34" charset="0"/>
                          <a:ea typeface="Calibri" pitchFamily="34" charset="-122"/>
                          <a:cs typeface="Calibri" pitchFamily="34" charset="-120"/>
                        </a:rPr>
                        <a:t>EasyOCR + PaddleOCR + Pix2Tex</a:t>
                      </a:r>
                      <a:endParaRPr lang="en-US" sz="1100" dirty="0">
                        <a:latin typeface="Calibri" charset="0"/>
                        <a:ea typeface="Calibri" charset="0"/>
                        <a:cs typeface="Calibri" charset="0"/>
                      </a:endParaRPr>
                    </a:p>
                  </a:txBody>
                  <a:tcPr marL="91440" marR="91440" marT="45720" marB="45720">
                    <a:lnL w="6350" cap="flat" cmpd="sng" algn="ctr">
                      <a:solidFill>
                        <a:srgbClr val="2E4DA3"/>
                      </a:solidFill>
                      <a:prstDash val="solid"/>
                      <a:round/>
                      <a:headEnd type="none" w="med" len="med"/>
                      <a:tailEnd type="none" w="med" len="med"/>
                    </a:lnL>
                    <a:lnR w="6350" cap="flat" cmpd="sng" algn="ctr">
                      <a:solidFill>
                        <a:srgbClr val="2E4DA3"/>
                      </a:solidFill>
                      <a:prstDash val="solid"/>
                      <a:round/>
                      <a:headEnd type="none" w="med" len="med"/>
                      <a:tailEnd type="none" w="med" len="med"/>
                    </a:lnR>
                    <a:lnT w="6350" cap="flat" cmpd="sng" algn="ctr">
                      <a:solidFill>
                        <a:srgbClr val="2E4DA3"/>
                      </a:solidFill>
                      <a:prstDash val="solid"/>
                      <a:round/>
                      <a:headEnd type="none" w="med" len="med"/>
                      <a:tailEnd type="none" w="med" len="med"/>
                    </a:lnT>
                    <a:lnB w="6350" cap="flat" cmpd="sng" algn="ctr">
                      <a:solidFill>
                        <a:srgbClr val="2E4DA3"/>
                      </a:solidFill>
                      <a:prstDash val="solid"/>
                      <a:round/>
                      <a:headEnd type="none" w="med" len="med"/>
                      <a:tailEnd type="none" w="med" len="med"/>
                    </a:lnB>
                    <a:solidFill>
                      <a:srgbClr val="1A2D6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Pipeline IA — De la Photo à la Fiche de Révision</a:t>
            </a:r>
            <a:endParaRPr lang="en-US" sz="2200" dirty="0"/>
          </a:p>
        </p:txBody>
      </p:sp>
      <p:sp>
        <p:nvSpPr>
          <p:cNvPr id="4" name="Shape 2"/>
          <p:cNvSpPr/>
          <p:nvPr/>
        </p:nvSpPr>
        <p:spPr>
          <a:xfrm>
            <a:off x="201168" y="932688"/>
            <a:ext cx="2816352" cy="173736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5" name="Shape 3"/>
          <p:cNvSpPr/>
          <p:nvPr/>
        </p:nvSpPr>
        <p:spPr>
          <a:xfrm>
            <a:off x="201168" y="932688"/>
            <a:ext cx="64008" cy="1737360"/>
          </a:xfrm>
          <a:prstGeom prst="rect">
            <a:avLst/>
          </a:prstGeom>
          <a:solidFill>
            <a:srgbClr val="1B2A6B"/>
          </a:solidFill>
          <a:ln w="12700">
            <a:solidFill>
              <a:srgbClr val="1B2A6B"/>
            </a:solidFill>
            <a:prstDash val="solid"/>
          </a:ln>
        </p:spPr>
      </p:sp>
      <p:sp>
        <p:nvSpPr>
          <p:cNvPr id="6" name="Shape 4"/>
          <p:cNvSpPr/>
          <p:nvPr/>
        </p:nvSpPr>
        <p:spPr>
          <a:xfrm>
            <a:off x="365760" y="1088136"/>
            <a:ext cx="475488" cy="475488"/>
          </a:xfrm>
          <a:prstGeom prst="ellipse">
            <a:avLst/>
          </a:prstGeom>
          <a:solidFill>
            <a:srgbClr val="1B2A6B"/>
          </a:solidFill>
          <a:ln w="12700">
            <a:solidFill>
              <a:srgbClr val="1B2A6B"/>
            </a:solidFill>
            <a:prstDash val="solid"/>
          </a:ln>
        </p:spPr>
      </p:sp>
      <p:sp>
        <p:nvSpPr>
          <p:cNvPr id="7" name="Text 5"/>
          <p:cNvSpPr/>
          <p:nvPr/>
        </p:nvSpPr>
        <p:spPr>
          <a:xfrm>
            <a:off x="365760" y="1088136"/>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1</a:t>
            </a:r>
            <a:endParaRPr lang="en-US" sz="1144" dirty="0"/>
          </a:p>
        </p:txBody>
      </p:sp>
      <p:sp>
        <p:nvSpPr>
          <p:cNvPr id="8" name="Text 6"/>
          <p:cNvSpPr/>
          <p:nvPr/>
        </p:nvSpPr>
        <p:spPr>
          <a:xfrm>
            <a:off x="969264" y="1097280"/>
            <a:ext cx="1920240" cy="438912"/>
          </a:xfrm>
          <a:prstGeom prst="rect">
            <a:avLst/>
          </a:prstGeom>
          <a:noFill/>
          <a:ln/>
        </p:spPr>
        <p:txBody>
          <a:bodyPr wrap="square" lIns="0" tIns="0" rIns="0" bIns="0" rtlCol="0" anchor="ctr"/>
          <a:lstStyle/>
          <a:p>
            <a:pPr algn="l" indent="0" marL="0">
              <a:buNone/>
            </a:pPr>
            <a:r>
              <a:rPr lang="en-US" sz="1300" b="1" dirty="0">
                <a:solidFill>
                  <a:srgbClr val="1B2A6B"/>
                </a:solidFill>
                <a:latin typeface="Calibri" pitchFamily="34" charset="0"/>
                <a:ea typeface="Calibri" pitchFamily="34" charset="-122"/>
                <a:cs typeface="Calibri" pitchFamily="34" charset="-120"/>
              </a:rPr>
              <a:t>CAPTURE</a:t>
            </a:r>
            <a:endParaRPr lang="en-US" sz="1300" dirty="0"/>
          </a:p>
        </p:txBody>
      </p:sp>
      <p:sp>
        <p:nvSpPr>
          <p:cNvPr id="9" name="Text 7"/>
          <p:cNvSpPr/>
          <p:nvPr/>
        </p:nvSpPr>
        <p:spPr>
          <a:xfrm>
            <a:off x="365760" y="1645920"/>
            <a:ext cx="2523744" cy="91440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Photo d'un tableau ou cours manuscrit via caméra ou galerie</a:t>
            </a:r>
            <a:endParaRPr lang="en-US" sz="1150" dirty="0"/>
          </a:p>
        </p:txBody>
      </p:sp>
      <p:sp>
        <p:nvSpPr>
          <p:cNvPr id="10" name="Shape 8"/>
          <p:cNvSpPr/>
          <p:nvPr/>
        </p:nvSpPr>
        <p:spPr>
          <a:xfrm>
            <a:off x="3145536" y="932688"/>
            <a:ext cx="2816352" cy="173736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1" name="Shape 9"/>
          <p:cNvSpPr/>
          <p:nvPr/>
        </p:nvSpPr>
        <p:spPr>
          <a:xfrm>
            <a:off x="3145536" y="932688"/>
            <a:ext cx="64008" cy="1737360"/>
          </a:xfrm>
          <a:prstGeom prst="rect">
            <a:avLst/>
          </a:prstGeom>
          <a:solidFill>
            <a:srgbClr val="2E4DA3"/>
          </a:solidFill>
          <a:ln w="12700">
            <a:solidFill>
              <a:srgbClr val="2E4DA3"/>
            </a:solidFill>
            <a:prstDash val="solid"/>
          </a:ln>
        </p:spPr>
      </p:sp>
      <p:sp>
        <p:nvSpPr>
          <p:cNvPr id="12" name="Shape 10"/>
          <p:cNvSpPr/>
          <p:nvPr/>
        </p:nvSpPr>
        <p:spPr>
          <a:xfrm>
            <a:off x="3310128" y="1088136"/>
            <a:ext cx="475488" cy="475488"/>
          </a:xfrm>
          <a:prstGeom prst="ellipse">
            <a:avLst/>
          </a:prstGeom>
          <a:solidFill>
            <a:srgbClr val="2E4DA3"/>
          </a:solidFill>
          <a:ln w="12700">
            <a:solidFill>
              <a:srgbClr val="2E4DA3"/>
            </a:solidFill>
            <a:prstDash val="solid"/>
          </a:ln>
        </p:spPr>
      </p:sp>
      <p:sp>
        <p:nvSpPr>
          <p:cNvPr id="13" name="Text 11"/>
          <p:cNvSpPr/>
          <p:nvPr/>
        </p:nvSpPr>
        <p:spPr>
          <a:xfrm>
            <a:off x="3310128" y="1088136"/>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2</a:t>
            </a:r>
            <a:endParaRPr lang="en-US" sz="1144" dirty="0"/>
          </a:p>
        </p:txBody>
      </p:sp>
      <p:sp>
        <p:nvSpPr>
          <p:cNvPr id="14" name="Text 12"/>
          <p:cNvSpPr/>
          <p:nvPr/>
        </p:nvSpPr>
        <p:spPr>
          <a:xfrm>
            <a:off x="3913632" y="1097280"/>
            <a:ext cx="1920240" cy="438912"/>
          </a:xfrm>
          <a:prstGeom prst="rect">
            <a:avLst/>
          </a:prstGeom>
          <a:noFill/>
          <a:ln/>
        </p:spPr>
        <p:txBody>
          <a:bodyPr wrap="square" lIns="0" tIns="0" rIns="0" bIns="0" rtlCol="0" anchor="ctr"/>
          <a:lstStyle/>
          <a:p>
            <a:pPr algn="l" indent="0" marL="0">
              <a:buNone/>
            </a:pPr>
            <a:r>
              <a:rPr lang="en-US" sz="1300" b="1" dirty="0">
                <a:solidFill>
                  <a:srgbClr val="2E4DA3"/>
                </a:solidFill>
                <a:latin typeface="Calibri" pitchFamily="34" charset="0"/>
                <a:ea typeface="Calibri" pitchFamily="34" charset="-122"/>
                <a:cs typeface="Calibri" pitchFamily="34" charset="-120"/>
              </a:rPr>
              <a:t>PRÉTRAITEMENT</a:t>
            </a:r>
            <a:endParaRPr lang="en-US" sz="1300" dirty="0"/>
          </a:p>
        </p:txBody>
      </p:sp>
      <p:sp>
        <p:nvSpPr>
          <p:cNvPr id="15" name="Text 13"/>
          <p:cNvSpPr/>
          <p:nvPr/>
        </p:nvSpPr>
        <p:spPr>
          <a:xfrm>
            <a:off x="3310128" y="1645920"/>
            <a:ext cx="2523744" cy="91440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OpenCV : amélioration du contraste, correction de perspective, débruitage</a:t>
            </a:r>
            <a:endParaRPr lang="en-US" sz="1150" dirty="0"/>
          </a:p>
        </p:txBody>
      </p:sp>
      <p:sp>
        <p:nvSpPr>
          <p:cNvPr id="16" name="Shape 14"/>
          <p:cNvSpPr/>
          <p:nvPr/>
        </p:nvSpPr>
        <p:spPr>
          <a:xfrm>
            <a:off x="6089904" y="932688"/>
            <a:ext cx="2816352" cy="173736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7" name="Shape 15"/>
          <p:cNvSpPr/>
          <p:nvPr/>
        </p:nvSpPr>
        <p:spPr>
          <a:xfrm>
            <a:off x="6089904" y="932688"/>
            <a:ext cx="64008" cy="1737360"/>
          </a:xfrm>
          <a:prstGeom prst="rect">
            <a:avLst/>
          </a:prstGeom>
          <a:solidFill>
            <a:srgbClr val="4A6FBE"/>
          </a:solidFill>
          <a:ln w="12700">
            <a:solidFill>
              <a:srgbClr val="4A6FBE"/>
            </a:solidFill>
            <a:prstDash val="solid"/>
          </a:ln>
        </p:spPr>
      </p:sp>
      <p:sp>
        <p:nvSpPr>
          <p:cNvPr id="18" name="Shape 16"/>
          <p:cNvSpPr/>
          <p:nvPr/>
        </p:nvSpPr>
        <p:spPr>
          <a:xfrm>
            <a:off x="6254496" y="1088136"/>
            <a:ext cx="475488" cy="475488"/>
          </a:xfrm>
          <a:prstGeom prst="ellipse">
            <a:avLst/>
          </a:prstGeom>
          <a:solidFill>
            <a:srgbClr val="4A6FBE"/>
          </a:solidFill>
          <a:ln w="12700">
            <a:solidFill>
              <a:srgbClr val="4A6FBE"/>
            </a:solidFill>
            <a:prstDash val="solid"/>
          </a:ln>
        </p:spPr>
      </p:sp>
      <p:sp>
        <p:nvSpPr>
          <p:cNvPr id="19" name="Text 17"/>
          <p:cNvSpPr/>
          <p:nvPr/>
        </p:nvSpPr>
        <p:spPr>
          <a:xfrm>
            <a:off x="6254496" y="1088136"/>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3</a:t>
            </a:r>
            <a:endParaRPr lang="en-US" sz="1144" dirty="0"/>
          </a:p>
        </p:txBody>
      </p:sp>
      <p:sp>
        <p:nvSpPr>
          <p:cNvPr id="20" name="Text 18"/>
          <p:cNvSpPr/>
          <p:nvPr/>
        </p:nvSpPr>
        <p:spPr>
          <a:xfrm>
            <a:off x="6858000" y="1097280"/>
            <a:ext cx="1920240" cy="438912"/>
          </a:xfrm>
          <a:prstGeom prst="rect">
            <a:avLst/>
          </a:prstGeom>
          <a:noFill/>
          <a:ln/>
        </p:spPr>
        <p:txBody>
          <a:bodyPr wrap="square" lIns="0" tIns="0" rIns="0" bIns="0" rtlCol="0" anchor="ctr"/>
          <a:lstStyle/>
          <a:p>
            <a:pPr algn="l" indent="0" marL="0">
              <a:buNone/>
            </a:pPr>
            <a:r>
              <a:rPr lang="en-US" sz="1300" b="1" dirty="0">
                <a:solidFill>
                  <a:srgbClr val="4A6FBE"/>
                </a:solidFill>
                <a:latin typeface="Calibri" pitchFamily="34" charset="0"/>
                <a:ea typeface="Calibri" pitchFamily="34" charset="-122"/>
                <a:cs typeface="Calibri" pitchFamily="34" charset="-120"/>
              </a:rPr>
              <a:t>OCR</a:t>
            </a:r>
            <a:endParaRPr lang="en-US" sz="1300" dirty="0"/>
          </a:p>
        </p:txBody>
      </p:sp>
      <p:sp>
        <p:nvSpPr>
          <p:cNvPr id="21" name="Text 19"/>
          <p:cNvSpPr/>
          <p:nvPr/>
        </p:nvSpPr>
        <p:spPr>
          <a:xfrm>
            <a:off x="6254496" y="1645920"/>
            <a:ext cx="2523744" cy="91440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EasyOCR / PaddleOCR extrait le texte · Pix2Tex convertit les formules en LaTeX</a:t>
            </a:r>
            <a:endParaRPr lang="en-US" sz="1150" dirty="0"/>
          </a:p>
        </p:txBody>
      </p:sp>
      <p:sp>
        <p:nvSpPr>
          <p:cNvPr id="22" name="Shape 20"/>
          <p:cNvSpPr/>
          <p:nvPr/>
        </p:nvSpPr>
        <p:spPr>
          <a:xfrm>
            <a:off x="201168" y="2807208"/>
            <a:ext cx="2816352" cy="173736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23" name="Shape 21"/>
          <p:cNvSpPr/>
          <p:nvPr/>
        </p:nvSpPr>
        <p:spPr>
          <a:xfrm>
            <a:off x="201168" y="2807208"/>
            <a:ext cx="64008" cy="1737360"/>
          </a:xfrm>
          <a:prstGeom prst="rect">
            <a:avLst/>
          </a:prstGeom>
          <a:solidFill>
            <a:srgbClr val="0D9488"/>
          </a:solidFill>
          <a:ln w="12700">
            <a:solidFill>
              <a:srgbClr val="0D9488"/>
            </a:solidFill>
            <a:prstDash val="solid"/>
          </a:ln>
        </p:spPr>
      </p:sp>
      <p:sp>
        <p:nvSpPr>
          <p:cNvPr id="24" name="Shape 22"/>
          <p:cNvSpPr/>
          <p:nvPr/>
        </p:nvSpPr>
        <p:spPr>
          <a:xfrm>
            <a:off x="365760" y="2962656"/>
            <a:ext cx="475488" cy="475488"/>
          </a:xfrm>
          <a:prstGeom prst="ellipse">
            <a:avLst/>
          </a:prstGeom>
          <a:solidFill>
            <a:srgbClr val="0D9488"/>
          </a:solidFill>
          <a:ln w="12700">
            <a:solidFill>
              <a:srgbClr val="0D9488"/>
            </a:solidFill>
            <a:prstDash val="solid"/>
          </a:ln>
        </p:spPr>
      </p:sp>
      <p:sp>
        <p:nvSpPr>
          <p:cNvPr id="25" name="Text 23"/>
          <p:cNvSpPr/>
          <p:nvPr/>
        </p:nvSpPr>
        <p:spPr>
          <a:xfrm>
            <a:off x="365760" y="2962656"/>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4</a:t>
            </a:r>
            <a:endParaRPr lang="en-US" sz="1144" dirty="0"/>
          </a:p>
        </p:txBody>
      </p:sp>
      <p:sp>
        <p:nvSpPr>
          <p:cNvPr id="26" name="Text 24"/>
          <p:cNvSpPr/>
          <p:nvPr/>
        </p:nvSpPr>
        <p:spPr>
          <a:xfrm>
            <a:off x="969264" y="2971800"/>
            <a:ext cx="1920240" cy="438912"/>
          </a:xfrm>
          <a:prstGeom prst="rect">
            <a:avLst/>
          </a:prstGeom>
          <a:noFill/>
          <a:ln/>
        </p:spPr>
        <p:txBody>
          <a:bodyPr wrap="square" lIns="0" tIns="0" rIns="0" bIns="0" rtlCol="0" anchor="ctr"/>
          <a:lstStyle/>
          <a:p>
            <a:pPr algn="l" indent="0" marL="0">
              <a:buNone/>
            </a:pPr>
            <a:r>
              <a:rPr lang="en-US" sz="1300" b="1" dirty="0">
                <a:solidFill>
                  <a:srgbClr val="0D9488"/>
                </a:solidFill>
                <a:latin typeface="Calibri" pitchFamily="34" charset="0"/>
                <a:ea typeface="Calibri" pitchFamily="34" charset="-122"/>
                <a:cs typeface="Calibri" pitchFamily="34" charset="-120"/>
              </a:rPr>
              <a:t>LLM</a:t>
            </a:r>
            <a:endParaRPr lang="en-US" sz="1300" dirty="0"/>
          </a:p>
        </p:txBody>
      </p:sp>
      <p:sp>
        <p:nvSpPr>
          <p:cNvPr id="27" name="Text 25"/>
          <p:cNvSpPr/>
          <p:nvPr/>
        </p:nvSpPr>
        <p:spPr>
          <a:xfrm>
            <a:off x="365760" y="3520440"/>
            <a:ext cx="2523744" cy="91440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Claude Sonnet structure le contenu, génère résumé, QCM et flashcards</a:t>
            </a:r>
            <a:endParaRPr lang="en-US" sz="1150" dirty="0"/>
          </a:p>
        </p:txBody>
      </p:sp>
      <p:sp>
        <p:nvSpPr>
          <p:cNvPr id="28" name="Shape 26"/>
          <p:cNvSpPr/>
          <p:nvPr/>
        </p:nvSpPr>
        <p:spPr>
          <a:xfrm>
            <a:off x="3145536" y="2807208"/>
            <a:ext cx="2816352" cy="173736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29" name="Shape 27"/>
          <p:cNvSpPr/>
          <p:nvPr/>
        </p:nvSpPr>
        <p:spPr>
          <a:xfrm>
            <a:off x="3145536" y="2807208"/>
            <a:ext cx="64008" cy="1737360"/>
          </a:xfrm>
          <a:prstGeom prst="rect">
            <a:avLst/>
          </a:prstGeom>
          <a:solidFill>
            <a:srgbClr val="7B3FA0"/>
          </a:solidFill>
          <a:ln w="12700">
            <a:solidFill>
              <a:srgbClr val="7B3FA0"/>
            </a:solidFill>
            <a:prstDash val="solid"/>
          </a:ln>
        </p:spPr>
      </p:sp>
      <p:sp>
        <p:nvSpPr>
          <p:cNvPr id="30" name="Shape 28"/>
          <p:cNvSpPr/>
          <p:nvPr/>
        </p:nvSpPr>
        <p:spPr>
          <a:xfrm>
            <a:off x="3310128" y="2962656"/>
            <a:ext cx="475488" cy="475488"/>
          </a:xfrm>
          <a:prstGeom prst="ellipse">
            <a:avLst/>
          </a:prstGeom>
          <a:solidFill>
            <a:srgbClr val="7B3FA0"/>
          </a:solidFill>
          <a:ln w="12700">
            <a:solidFill>
              <a:srgbClr val="7B3FA0"/>
            </a:solidFill>
            <a:prstDash val="solid"/>
          </a:ln>
        </p:spPr>
      </p:sp>
      <p:sp>
        <p:nvSpPr>
          <p:cNvPr id="31" name="Text 29"/>
          <p:cNvSpPr/>
          <p:nvPr/>
        </p:nvSpPr>
        <p:spPr>
          <a:xfrm>
            <a:off x="3310128" y="2962656"/>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5</a:t>
            </a:r>
            <a:endParaRPr lang="en-US" sz="1144" dirty="0"/>
          </a:p>
        </p:txBody>
      </p:sp>
      <p:sp>
        <p:nvSpPr>
          <p:cNvPr id="32" name="Text 30"/>
          <p:cNvSpPr/>
          <p:nvPr/>
        </p:nvSpPr>
        <p:spPr>
          <a:xfrm>
            <a:off x="3913632" y="2971800"/>
            <a:ext cx="1920240" cy="438912"/>
          </a:xfrm>
          <a:prstGeom prst="rect">
            <a:avLst/>
          </a:prstGeom>
          <a:noFill/>
          <a:ln/>
        </p:spPr>
        <p:txBody>
          <a:bodyPr wrap="square" lIns="0" tIns="0" rIns="0" bIns="0" rtlCol="0" anchor="ctr"/>
          <a:lstStyle/>
          <a:p>
            <a:pPr algn="l" indent="0" marL="0">
              <a:buNone/>
            </a:pPr>
            <a:r>
              <a:rPr lang="en-US" sz="1300" b="1" dirty="0">
                <a:solidFill>
                  <a:srgbClr val="7B3FA0"/>
                </a:solidFill>
                <a:latin typeface="Calibri" pitchFamily="34" charset="0"/>
                <a:ea typeface="Calibri" pitchFamily="34" charset="-122"/>
                <a:cs typeface="Calibri" pitchFamily="34" charset="-120"/>
              </a:rPr>
              <a:t>VECTORISATION</a:t>
            </a:r>
            <a:endParaRPr lang="en-US" sz="1300" dirty="0"/>
          </a:p>
        </p:txBody>
      </p:sp>
      <p:sp>
        <p:nvSpPr>
          <p:cNvPr id="33" name="Text 31"/>
          <p:cNvSpPr/>
          <p:nvPr/>
        </p:nvSpPr>
        <p:spPr>
          <a:xfrm>
            <a:off x="3310128" y="3520440"/>
            <a:ext cx="2523744" cy="91440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La note est convertie en embeddings et indexée dans ChromaDB pour le RAG</a:t>
            </a:r>
            <a:endParaRPr lang="en-US" sz="1150" dirty="0"/>
          </a:p>
        </p:txBody>
      </p:sp>
      <p:sp>
        <p:nvSpPr>
          <p:cNvPr id="34" name="Shape 32"/>
          <p:cNvSpPr/>
          <p:nvPr/>
        </p:nvSpPr>
        <p:spPr>
          <a:xfrm>
            <a:off x="6089904" y="2807208"/>
            <a:ext cx="2816352" cy="173736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35" name="Shape 33"/>
          <p:cNvSpPr/>
          <p:nvPr/>
        </p:nvSpPr>
        <p:spPr>
          <a:xfrm>
            <a:off x="6089904" y="2807208"/>
            <a:ext cx="64008" cy="1737360"/>
          </a:xfrm>
          <a:prstGeom prst="rect">
            <a:avLst/>
          </a:prstGeom>
          <a:solidFill>
            <a:srgbClr val="C0392B"/>
          </a:solidFill>
          <a:ln w="12700">
            <a:solidFill>
              <a:srgbClr val="C0392B"/>
            </a:solidFill>
            <a:prstDash val="solid"/>
          </a:ln>
        </p:spPr>
      </p:sp>
      <p:sp>
        <p:nvSpPr>
          <p:cNvPr id="36" name="Shape 34"/>
          <p:cNvSpPr/>
          <p:nvPr/>
        </p:nvSpPr>
        <p:spPr>
          <a:xfrm>
            <a:off x="6254496" y="2962656"/>
            <a:ext cx="475488" cy="475488"/>
          </a:xfrm>
          <a:prstGeom prst="ellipse">
            <a:avLst/>
          </a:prstGeom>
          <a:solidFill>
            <a:srgbClr val="C0392B"/>
          </a:solidFill>
          <a:ln w="12700">
            <a:solidFill>
              <a:srgbClr val="C0392B"/>
            </a:solidFill>
            <a:prstDash val="solid"/>
          </a:ln>
        </p:spPr>
      </p:sp>
      <p:sp>
        <p:nvSpPr>
          <p:cNvPr id="37" name="Text 35"/>
          <p:cNvSpPr/>
          <p:nvPr/>
        </p:nvSpPr>
        <p:spPr>
          <a:xfrm>
            <a:off x="6254496" y="2962656"/>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6</a:t>
            </a:r>
            <a:endParaRPr lang="en-US" sz="1144" dirty="0"/>
          </a:p>
        </p:txBody>
      </p:sp>
      <p:sp>
        <p:nvSpPr>
          <p:cNvPr id="38" name="Text 36"/>
          <p:cNvSpPr/>
          <p:nvPr/>
        </p:nvSpPr>
        <p:spPr>
          <a:xfrm>
            <a:off x="6858000" y="2971800"/>
            <a:ext cx="1920240" cy="438912"/>
          </a:xfrm>
          <a:prstGeom prst="rect">
            <a:avLst/>
          </a:prstGeom>
          <a:noFill/>
          <a:ln/>
        </p:spPr>
        <p:txBody>
          <a:bodyPr wrap="square" lIns="0" tIns="0" rIns="0" bIns="0" rtlCol="0" anchor="ctr"/>
          <a:lstStyle/>
          <a:p>
            <a:pPr algn="l" indent="0" marL="0">
              <a:buNone/>
            </a:pPr>
            <a:r>
              <a:rPr lang="en-US" sz="1300" b="1" dirty="0">
                <a:solidFill>
                  <a:srgbClr val="C0392B"/>
                </a:solidFill>
                <a:latin typeface="Calibri" pitchFamily="34" charset="0"/>
                <a:ea typeface="Calibri" pitchFamily="34" charset="-122"/>
                <a:cs typeface="Calibri" pitchFamily="34" charset="-120"/>
              </a:rPr>
              <a:t>PERSISTANCE</a:t>
            </a:r>
            <a:endParaRPr lang="en-US" sz="1300" dirty="0"/>
          </a:p>
        </p:txBody>
      </p:sp>
      <p:sp>
        <p:nvSpPr>
          <p:cNvPr id="39" name="Text 37"/>
          <p:cNvSpPr/>
          <p:nvPr/>
        </p:nvSpPr>
        <p:spPr>
          <a:xfrm>
            <a:off x="6254496" y="3520440"/>
            <a:ext cx="2523744" cy="91440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Note + Quiz + Flashcards sauvegardés dans MongoDB avec GridFS pour les images</a:t>
            </a:r>
            <a:endParaRPr lang="en-US" sz="1150" dirty="0"/>
          </a:p>
        </p:txBody>
      </p:sp>
      <p:sp>
        <p:nvSpPr>
          <p:cNvPr id="40" name="Shape 38"/>
          <p:cNvSpPr/>
          <p:nvPr/>
        </p:nvSpPr>
        <p:spPr>
          <a:xfrm>
            <a:off x="274320" y="4754880"/>
            <a:ext cx="8595360" cy="320040"/>
          </a:xfrm>
          <a:prstGeom prst="rect">
            <a:avLst/>
          </a:prstGeom>
          <a:solidFill>
            <a:srgbClr val="EEF2FF"/>
          </a:solidFill>
          <a:ln w="12700">
            <a:solidFill>
              <a:srgbClr val="C7D2F0"/>
            </a:solidFill>
            <a:prstDash val="solid"/>
          </a:ln>
        </p:spPr>
      </p:sp>
      <p:sp>
        <p:nvSpPr>
          <p:cNvPr id="41" name="Text 39"/>
          <p:cNvSpPr/>
          <p:nvPr/>
        </p:nvSpPr>
        <p:spPr>
          <a:xfrm>
            <a:off x="365760" y="4773168"/>
            <a:ext cx="8412480" cy="292608"/>
          </a:xfrm>
          <a:prstGeom prst="rect">
            <a:avLst/>
          </a:prstGeom>
          <a:noFill/>
          <a:ln/>
        </p:spPr>
        <p:txBody>
          <a:bodyPr wrap="square" rtlCol="0" anchor="ctr"/>
          <a:lstStyle/>
          <a:p>
            <a:pPr algn="ctr" indent="0" marL="0">
              <a:buNone/>
            </a:pPr>
            <a:r>
              <a:rPr lang="en-US" sz="1100" i="1" dirty="0">
                <a:solidFill>
                  <a:srgbClr val="1B2A6B"/>
                </a:solidFill>
                <a:latin typeface="Calibri" pitchFamily="34" charset="0"/>
                <a:ea typeface="Calibri" pitchFamily="34" charset="-122"/>
                <a:cs typeface="Calibri" pitchFamily="34" charset="-120"/>
              </a:rPr>
              <a:t>Deux modes : Capture unique (1 photo → 1 note)   |   Session multi-images (N photos → 1 cours complet)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Fonctionnalités Principales</a:t>
            </a:r>
            <a:endParaRPr lang="en-US" sz="2600" dirty="0"/>
          </a:p>
        </p:txBody>
      </p:sp>
      <p:sp>
        <p:nvSpPr>
          <p:cNvPr id="4" name="Shape 2"/>
          <p:cNvSpPr/>
          <p:nvPr/>
        </p:nvSpPr>
        <p:spPr>
          <a:xfrm>
            <a:off x="201168" y="932688"/>
            <a:ext cx="2816352" cy="1883664"/>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5" name="Shape 3"/>
          <p:cNvSpPr/>
          <p:nvPr/>
        </p:nvSpPr>
        <p:spPr>
          <a:xfrm>
            <a:off x="201168" y="932688"/>
            <a:ext cx="2816352" cy="64008"/>
          </a:xfrm>
          <a:prstGeom prst="rect">
            <a:avLst/>
          </a:prstGeom>
          <a:solidFill>
            <a:srgbClr val="1B2A6B"/>
          </a:solidFill>
          <a:ln w="12700">
            <a:solidFill>
              <a:srgbClr val="1B2A6B"/>
            </a:solidFill>
            <a:prstDash val="solid"/>
          </a:ln>
        </p:spPr>
      </p:sp>
      <p:sp>
        <p:nvSpPr>
          <p:cNvPr id="6" name="Shape 4"/>
          <p:cNvSpPr/>
          <p:nvPr/>
        </p:nvSpPr>
        <p:spPr>
          <a:xfrm>
            <a:off x="365760" y="1133856"/>
            <a:ext cx="502920" cy="502920"/>
          </a:xfrm>
          <a:prstGeom prst="ellipse">
            <a:avLst/>
          </a:prstGeom>
          <a:solidFill>
            <a:srgbClr val="1B2A6B"/>
          </a:solidFill>
          <a:ln w="12700">
            <a:solidFill>
              <a:srgbClr val="1B2A6B"/>
            </a:solidFill>
            <a:prstDash val="solid"/>
          </a:ln>
        </p:spPr>
      </p:sp>
      <p:sp>
        <p:nvSpPr>
          <p:cNvPr id="7" name="Text 5"/>
          <p:cNvSpPr/>
          <p:nvPr/>
        </p:nvSpPr>
        <p:spPr>
          <a:xfrm>
            <a:off x="365760" y="1133856"/>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rPr>
              <a:t>1</a:t>
            </a:r>
            <a:endParaRPr lang="en-US" sz="1210" dirty="0"/>
          </a:p>
        </p:txBody>
      </p:sp>
      <p:sp>
        <p:nvSpPr>
          <p:cNvPr id="8" name="Text 6"/>
          <p:cNvSpPr/>
          <p:nvPr/>
        </p:nvSpPr>
        <p:spPr>
          <a:xfrm>
            <a:off x="987552" y="1133856"/>
            <a:ext cx="1920240" cy="475488"/>
          </a:xfrm>
          <a:prstGeom prst="rect">
            <a:avLst/>
          </a:prstGeom>
          <a:noFill/>
          <a:ln/>
        </p:spPr>
        <p:txBody>
          <a:bodyPr wrap="square" lIns="0" tIns="0" rIns="0" bIns="0" rtlCol="0" anchor="ctr"/>
          <a:lstStyle/>
          <a:p>
            <a:pPr algn="l" indent="0" marL="0">
              <a:buNone/>
            </a:pPr>
            <a:r>
              <a:rPr lang="en-US" sz="1400" b="1" dirty="0">
                <a:solidFill>
                  <a:srgbClr val="1A2238"/>
                </a:solidFill>
                <a:latin typeface="Calibri" pitchFamily="34" charset="0"/>
                <a:ea typeface="Calibri" pitchFamily="34" charset="-122"/>
                <a:cs typeface="Calibri" pitchFamily="34" charset="-120"/>
              </a:rPr>
              <a:t>Capture Intelligente</a:t>
            </a:r>
            <a:endParaRPr lang="en-US" sz="1400" dirty="0"/>
          </a:p>
        </p:txBody>
      </p:sp>
      <p:sp>
        <p:nvSpPr>
          <p:cNvPr id="9" name="Text 7"/>
          <p:cNvSpPr/>
          <p:nvPr/>
        </p:nvSpPr>
        <p:spPr>
          <a:xfrm>
            <a:off x="365760" y="1755648"/>
            <a:ext cx="2542032" cy="969264"/>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Photo unique ou session multi-images. Correction manuelle du texte OCR avant validation.</a:t>
            </a:r>
            <a:endParaRPr lang="en-US" sz="1150" dirty="0"/>
          </a:p>
        </p:txBody>
      </p:sp>
      <p:sp>
        <p:nvSpPr>
          <p:cNvPr id="10" name="Shape 8"/>
          <p:cNvSpPr/>
          <p:nvPr/>
        </p:nvSpPr>
        <p:spPr>
          <a:xfrm>
            <a:off x="3145536" y="932688"/>
            <a:ext cx="2816352" cy="1883664"/>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1" name="Shape 9"/>
          <p:cNvSpPr/>
          <p:nvPr/>
        </p:nvSpPr>
        <p:spPr>
          <a:xfrm>
            <a:off x="3145536" y="932688"/>
            <a:ext cx="2816352" cy="64008"/>
          </a:xfrm>
          <a:prstGeom prst="rect">
            <a:avLst/>
          </a:prstGeom>
          <a:solidFill>
            <a:srgbClr val="2E4DA3"/>
          </a:solidFill>
          <a:ln w="12700">
            <a:solidFill>
              <a:srgbClr val="2E4DA3"/>
            </a:solidFill>
            <a:prstDash val="solid"/>
          </a:ln>
        </p:spPr>
      </p:sp>
      <p:sp>
        <p:nvSpPr>
          <p:cNvPr id="12" name="Shape 10"/>
          <p:cNvSpPr/>
          <p:nvPr/>
        </p:nvSpPr>
        <p:spPr>
          <a:xfrm>
            <a:off x="3310128" y="1133856"/>
            <a:ext cx="502920" cy="502920"/>
          </a:xfrm>
          <a:prstGeom prst="ellipse">
            <a:avLst/>
          </a:prstGeom>
          <a:solidFill>
            <a:srgbClr val="2E4DA3"/>
          </a:solidFill>
          <a:ln w="12700">
            <a:solidFill>
              <a:srgbClr val="2E4DA3"/>
            </a:solidFill>
            <a:prstDash val="solid"/>
          </a:ln>
        </p:spPr>
      </p:sp>
      <p:sp>
        <p:nvSpPr>
          <p:cNvPr id="13" name="Text 11"/>
          <p:cNvSpPr/>
          <p:nvPr/>
        </p:nvSpPr>
        <p:spPr>
          <a:xfrm>
            <a:off x="3310128" y="1133856"/>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rPr>
              <a:t>2</a:t>
            </a:r>
            <a:endParaRPr lang="en-US" sz="1210" dirty="0"/>
          </a:p>
        </p:txBody>
      </p:sp>
      <p:sp>
        <p:nvSpPr>
          <p:cNvPr id="14" name="Text 12"/>
          <p:cNvSpPr/>
          <p:nvPr/>
        </p:nvSpPr>
        <p:spPr>
          <a:xfrm>
            <a:off x="3931920" y="1133856"/>
            <a:ext cx="1920240" cy="475488"/>
          </a:xfrm>
          <a:prstGeom prst="rect">
            <a:avLst/>
          </a:prstGeom>
          <a:noFill/>
          <a:ln/>
        </p:spPr>
        <p:txBody>
          <a:bodyPr wrap="square" lIns="0" tIns="0" rIns="0" bIns="0" rtlCol="0" anchor="ctr"/>
          <a:lstStyle/>
          <a:p>
            <a:pPr algn="l" indent="0" marL="0">
              <a:buNone/>
            </a:pPr>
            <a:r>
              <a:rPr lang="en-US" sz="1400" b="1" dirty="0">
                <a:solidFill>
                  <a:srgbClr val="1A2238"/>
                </a:solidFill>
                <a:latin typeface="Calibri" pitchFamily="34" charset="0"/>
                <a:ea typeface="Calibri" pitchFamily="34" charset="-122"/>
                <a:cs typeface="Calibri" pitchFamily="34" charset="-120"/>
              </a:rPr>
              <a:t>Notes Enrichies</a:t>
            </a:r>
            <a:endParaRPr lang="en-US" sz="1400" dirty="0"/>
          </a:p>
        </p:txBody>
      </p:sp>
      <p:sp>
        <p:nvSpPr>
          <p:cNvPr id="15" name="Text 13"/>
          <p:cNvSpPr/>
          <p:nvPr/>
        </p:nvSpPr>
        <p:spPr>
          <a:xfrm>
            <a:off x="3310128" y="1755648"/>
            <a:ext cx="2542032" cy="969264"/>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Résumé IA, contenu structuré avec rendu LaTeX pour les formules mathématiques.</a:t>
            </a:r>
            <a:endParaRPr lang="en-US" sz="1150" dirty="0"/>
          </a:p>
        </p:txBody>
      </p:sp>
      <p:sp>
        <p:nvSpPr>
          <p:cNvPr id="16" name="Shape 14"/>
          <p:cNvSpPr/>
          <p:nvPr/>
        </p:nvSpPr>
        <p:spPr>
          <a:xfrm>
            <a:off x="6089904" y="932688"/>
            <a:ext cx="2816352" cy="1883664"/>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7" name="Shape 15"/>
          <p:cNvSpPr/>
          <p:nvPr/>
        </p:nvSpPr>
        <p:spPr>
          <a:xfrm>
            <a:off x="6089904" y="932688"/>
            <a:ext cx="2816352" cy="64008"/>
          </a:xfrm>
          <a:prstGeom prst="rect">
            <a:avLst/>
          </a:prstGeom>
          <a:solidFill>
            <a:srgbClr val="4A6FBE"/>
          </a:solidFill>
          <a:ln w="12700">
            <a:solidFill>
              <a:srgbClr val="4A6FBE"/>
            </a:solidFill>
            <a:prstDash val="solid"/>
          </a:ln>
        </p:spPr>
      </p:sp>
      <p:sp>
        <p:nvSpPr>
          <p:cNvPr id="18" name="Shape 16"/>
          <p:cNvSpPr/>
          <p:nvPr/>
        </p:nvSpPr>
        <p:spPr>
          <a:xfrm>
            <a:off x="6254496" y="1133856"/>
            <a:ext cx="502920" cy="502920"/>
          </a:xfrm>
          <a:prstGeom prst="ellipse">
            <a:avLst/>
          </a:prstGeom>
          <a:solidFill>
            <a:srgbClr val="4A6FBE"/>
          </a:solidFill>
          <a:ln w="12700">
            <a:solidFill>
              <a:srgbClr val="4A6FBE"/>
            </a:solidFill>
            <a:prstDash val="solid"/>
          </a:ln>
        </p:spPr>
      </p:sp>
      <p:sp>
        <p:nvSpPr>
          <p:cNvPr id="19" name="Text 17"/>
          <p:cNvSpPr/>
          <p:nvPr/>
        </p:nvSpPr>
        <p:spPr>
          <a:xfrm>
            <a:off x="6254496" y="1133856"/>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rPr>
              <a:t>3</a:t>
            </a:r>
            <a:endParaRPr lang="en-US" sz="1210" dirty="0"/>
          </a:p>
        </p:txBody>
      </p:sp>
      <p:sp>
        <p:nvSpPr>
          <p:cNvPr id="20" name="Text 18"/>
          <p:cNvSpPr/>
          <p:nvPr/>
        </p:nvSpPr>
        <p:spPr>
          <a:xfrm>
            <a:off x="6876288" y="1133856"/>
            <a:ext cx="1920240" cy="475488"/>
          </a:xfrm>
          <a:prstGeom prst="rect">
            <a:avLst/>
          </a:prstGeom>
          <a:noFill/>
          <a:ln/>
        </p:spPr>
        <p:txBody>
          <a:bodyPr wrap="square" lIns="0" tIns="0" rIns="0" bIns="0" rtlCol="0" anchor="ctr"/>
          <a:lstStyle/>
          <a:p>
            <a:pPr algn="l" indent="0" marL="0">
              <a:buNone/>
            </a:pPr>
            <a:r>
              <a:rPr lang="en-US" sz="1400" b="1" dirty="0">
                <a:solidFill>
                  <a:srgbClr val="1A2238"/>
                </a:solidFill>
                <a:latin typeface="Calibri" pitchFamily="34" charset="0"/>
                <a:ea typeface="Calibri" pitchFamily="34" charset="-122"/>
                <a:cs typeface="Calibri" pitchFamily="34" charset="-120"/>
              </a:rPr>
              <a:t>Quiz QCM Auto</a:t>
            </a:r>
            <a:endParaRPr lang="en-US" sz="1400" dirty="0"/>
          </a:p>
        </p:txBody>
      </p:sp>
      <p:sp>
        <p:nvSpPr>
          <p:cNvPr id="21" name="Text 19"/>
          <p:cNvSpPr/>
          <p:nvPr/>
        </p:nvSpPr>
        <p:spPr>
          <a:xfrm>
            <a:off x="6254496" y="1755648"/>
            <a:ext cx="2542032" cy="969264"/>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Questions à choix multiples générées automatiquement depuis le contenu de la note.</a:t>
            </a:r>
            <a:endParaRPr lang="en-US" sz="1150" dirty="0"/>
          </a:p>
        </p:txBody>
      </p:sp>
      <p:sp>
        <p:nvSpPr>
          <p:cNvPr id="22" name="Shape 20"/>
          <p:cNvSpPr/>
          <p:nvPr/>
        </p:nvSpPr>
        <p:spPr>
          <a:xfrm>
            <a:off x="201168" y="2944368"/>
            <a:ext cx="2816352" cy="1883664"/>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23" name="Shape 21"/>
          <p:cNvSpPr/>
          <p:nvPr/>
        </p:nvSpPr>
        <p:spPr>
          <a:xfrm>
            <a:off x="201168" y="2944368"/>
            <a:ext cx="2816352" cy="64008"/>
          </a:xfrm>
          <a:prstGeom prst="rect">
            <a:avLst/>
          </a:prstGeom>
          <a:solidFill>
            <a:srgbClr val="0D9488"/>
          </a:solidFill>
          <a:ln w="12700">
            <a:solidFill>
              <a:srgbClr val="0D9488"/>
            </a:solidFill>
            <a:prstDash val="solid"/>
          </a:ln>
        </p:spPr>
      </p:sp>
      <p:sp>
        <p:nvSpPr>
          <p:cNvPr id="24" name="Shape 22"/>
          <p:cNvSpPr/>
          <p:nvPr/>
        </p:nvSpPr>
        <p:spPr>
          <a:xfrm>
            <a:off x="365760" y="3145536"/>
            <a:ext cx="502920" cy="502920"/>
          </a:xfrm>
          <a:prstGeom prst="ellipse">
            <a:avLst/>
          </a:prstGeom>
          <a:solidFill>
            <a:srgbClr val="0D9488"/>
          </a:solidFill>
          <a:ln w="12700">
            <a:solidFill>
              <a:srgbClr val="0D9488"/>
            </a:solidFill>
            <a:prstDash val="solid"/>
          </a:ln>
        </p:spPr>
      </p:sp>
      <p:sp>
        <p:nvSpPr>
          <p:cNvPr id="25" name="Text 23"/>
          <p:cNvSpPr/>
          <p:nvPr/>
        </p:nvSpPr>
        <p:spPr>
          <a:xfrm>
            <a:off x="365760" y="3145536"/>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rPr>
              <a:t>4</a:t>
            </a:r>
            <a:endParaRPr lang="en-US" sz="1210" dirty="0"/>
          </a:p>
        </p:txBody>
      </p:sp>
      <p:sp>
        <p:nvSpPr>
          <p:cNvPr id="26" name="Text 24"/>
          <p:cNvSpPr/>
          <p:nvPr/>
        </p:nvSpPr>
        <p:spPr>
          <a:xfrm>
            <a:off x="987552" y="3145536"/>
            <a:ext cx="1920240" cy="475488"/>
          </a:xfrm>
          <a:prstGeom prst="rect">
            <a:avLst/>
          </a:prstGeom>
          <a:noFill/>
          <a:ln/>
        </p:spPr>
        <p:txBody>
          <a:bodyPr wrap="square" lIns="0" tIns="0" rIns="0" bIns="0" rtlCol="0" anchor="ctr"/>
          <a:lstStyle/>
          <a:p>
            <a:pPr algn="l" indent="0" marL="0">
              <a:buNone/>
            </a:pPr>
            <a:r>
              <a:rPr lang="en-US" sz="1400" b="1" dirty="0">
                <a:solidFill>
                  <a:srgbClr val="1A2238"/>
                </a:solidFill>
                <a:latin typeface="Calibri" pitchFamily="34" charset="0"/>
                <a:ea typeface="Calibri" pitchFamily="34" charset="-122"/>
                <a:cs typeface="Calibri" pitchFamily="34" charset="-120"/>
              </a:rPr>
              <a:t>Flashcards + SM-2</a:t>
            </a:r>
            <a:endParaRPr lang="en-US" sz="1400" dirty="0"/>
          </a:p>
        </p:txBody>
      </p:sp>
      <p:sp>
        <p:nvSpPr>
          <p:cNvPr id="27" name="Text 25"/>
          <p:cNvSpPr/>
          <p:nvPr/>
        </p:nvSpPr>
        <p:spPr>
          <a:xfrm>
            <a:off x="365760" y="3767328"/>
            <a:ext cx="2542032" cy="969264"/>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Cartes mémoire avec l'algorithme SuperMemo 2 pour optimiser les intervalles de révision.</a:t>
            </a:r>
            <a:endParaRPr lang="en-US" sz="1150" dirty="0"/>
          </a:p>
        </p:txBody>
      </p:sp>
      <p:sp>
        <p:nvSpPr>
          <p:cNvPr id="28" name="Shape 26"/>
          <p:cNvSpPr/>
          <p:nvPr/>
        </p:nvSpPr>
        <p:spPr>
          <a:xfrm>
            <a:off x="3145536" y="2944368"/>
            <a:ext cx="2816352" cy="1883664"/>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29" name="Shape 27"/>
          <p:cNvSpPr/>
          <p:nvPr/>
        </p:nvSpPr>
        <p:spPr>
          <a:xfrm>
            <a:off x="3145536" y="2944368"/>
            <a:ext cx="2816352" cy="64008"/>
          </a:xfrm>
          <a:prstGeom prst="rect">
            <a:avLst/>
          </a:prstGeom>
          <a:solidFill>
            <a:srgbClr val="7B3FA0"/>
          </a:solidFill>
          <a:ln w="12700">
            <a:solidFill>
              <a:srgbClr val="7B3FA0"/>
            </a:solidFill>
            <a:prstDash val="solid"/>
          </a:ln>
        </p:spPr>
      </p:sp>
      <p:sp>
        <p:nvSpPr>
          <p:cNvPr id="30" name="Shape 28"/>
          <p:cNvSpPr/>
          <p:nvPr/>
        </p:nvSpPr>
        <p:spPr>
          <a:xfrm>
            <a:off x="3310128" y="3145536"/>
            <a:ext cx="502920" cy="502920"/>
          </a:xfrm>
          <a:prstGeom prst="ellipse">
            <a:avLst/>
          </a:prstGeom>
          <a:solidFill>
            <a:srgbClr val="7B3FA0"/>
          </a:solidFill>
          <a:ln w="12700">
            <a:solidFill>
              <a:srgbClr val="7B3FA0"/>
            </a:solidFill>
            <a:prstDash val="solid"/>
          </a:ln>
        </p:spPr>
      </p:sp>
      <p:sp>
        <p:nvSpPr>
          <p:cNvPr id="31" name="Text 29"/>
          <p:cNvSpPr/>
          <p:nvPr/>
        </p:nvSpPr>
        <p:spPr>
          <a:xfrm>
            <a:off x="3310128" y="3145536"/>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rPr>
              <a:t>5</a:t>
            </a:r>
            <a:endParaRPr lang="en-US" sz="1210" dirty="0"/>
          </a:p>
        </p:txBody>
      </p:sp>
      <p:sp>
        <p:nvSpPr>
          <p:cNvPr id="32" name="Text 30"/>
          <p:cNvSpPr/>
          <p:nvPr/>
        </p:nvSpPr>
        <p:spPr>
          <a:xfrm>
            <a:off x="3931920" y="3145536"/>
            <a:ext cx="1920240" cy="475488"/>
          </a:xfrm>
          <a:prstGeom prst="rect">
            <a:avLst/>
          </a:prstGeom>
          <a:noFill/>
          <a:ln/>
        </p:spPr>
        <p:txBody>
          <a:bodyPr wrap="square" lIns="0" tIns="0" rIns="0" bIns="0" rtlCol="0" anchor="ctr"/>
          <a:lstStyle/>
          <a:p>
            <a:pPr algn="l" indent="0" marL="0">
              <a:buNone/>
            </a:pPr>
            <a:r>
              <a:rPr lang="en-US" sz="1400" b="1" dirty="0">
                <a:solidFill>
                  <a:srgbClr val="1A2238"/>
                </a:solidFill>
                <a:latin typeface="Calibri" pitchFamily="34" charset="0"/>
                <a:ea typeface="Calibri" pitchFamily="34" charset="-122"/>
                <a:cs typeface="Calibri" pitchFamily="34" charset="-120"/>
              </a:rPr>
              <a:t>Assistant RAG</a:t>
            </a:r>
            <a:endParaRPr lang="en-US" sz="1400" dirty="0"/>
          </a:p>
        </p:txBody>
      </p:sp>
      <p:sp>
        <p:nvSpPr>
          <p:cNvPr id="33" name="Text 31"/>
          <p:cNvSpPr/>
          <p:nvPr/>
        </p:nvSpPr>
        <p:spPr>
          <a:xfrm>
            <a:off x="3310128" y="3767328"/>
            <a:ext cx="2542032" cy="969264"/>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Questions-réponses basées uniquement sur VOS notes. Zéro hallucination hors-contexte.</a:t>
            </a:r>
            <a:endParaRPr lang="en-US" sz="1150" dirty="0"/>
          </a:p>
        </p:txBody>
      </p:sp>
      <p:sp>
        <p:nvSpPr>
          <p:cNvPr id="34" name="Shape 32"/>
          <p:cNvSpPr/>
          <p:nvPr/>
        </p:nvSpPr>
        <p:spPr>
          <a:xfrm>
            <a:off x="6089904" y="2944368"/>
            <a:ext cx="2816352" cy="1883664"/>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35" name="Shape 33"/>
          <p:cNvSpPr/>
          <p:nvPr/>
        </p:nvSpPr>
        <p:spPr>
          <a:xfrm>
            <a:off x="6089904" y="2944368"/>
            <a:ext cx="2816352" cy="64008"/>
          </a:xfrm>
          <a:prstGeom prst="rect">
            <a:avLst/>
          </a:prstGeom>
          <a:solidFill>
            <a:srgbClr val="C0392B"/>
          </a:solidFill>
          <a:ln w="12700">
            <a:solidFill>
              <a:srgbClr val="C0392B"/>
            </a:solidFill>
            <a:prstDash val="solid"/>
          </a:ln>
        </p:spPr>
      </p:sp>
      <p:sp>
        <p:nvSpPr>
          <p:cNvPr id="36" name="Shape 34"/>
          <p:cNvSpPr/>
          <p:nvPr/>
        </p:nvSpPr>
        <p:spPr>
          <a:xfrm>
            <a:off x="6254496" y="3145536"/>
            <a:ext cx="502920" cy="502920"/>
          </a:xfrm>
          <a:prstGeom prst="ellipse">
            <a:avLst/>
          </a:prstGeom>
          <a:solidFill>
            <a:srgbClr val="C0392B"/>
          </a:solidFill>
          <a:ln w="12700">
            <a:solidFill>
              <a:srgbClr val="C0392B"/>
            </a:solidFill>
            <a:prstDash val="solid"/>
          </a:ln>
        </p:spPr>
      </p:sp>
      <p:sp>
        <p:nvSpPr>
          <p:cNvPr id="37" name="Text 35"/>
          <p:cNvSpPr/>
          <p:nvPr/>
        </p:nvSpPr>
        <p:spPr>
          <a:xfrm>
            <a:off x="6254496" y="3145536"/>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rPr>
              <a:t>6</a:t>
            </a:r>
            <a:endParaRPr lang="en-US" sz="1210" dirty="0"/>
          </a:p>
        </p:txBody>
      </p:sp>
      <p:sp>
        <p:nvSpPr>
          <p:cNvPr id="38" name="Text 36"/>
          <p:cNvSpPr/>
          <p:nvPr/>
        </p:nvSpPr>
        <p:spPr>
          <a:xfrm>
            <a:off x="6876288" y="3145536"/>
            <a:ext cx="1920240" cy="475488"/>
          </a:xfrm>
          <a:prstGeom prst="rect">
            <a:avLst/>
          </a:prstGeom>
          <a:noFill/>
          <a:ln/>
        </p:spPr>
        <p:txBody>
          <a:bodyPr wrap="square" lIns="0" tIns="0" rIns="0" bIns="0" rtlCol="0" anchor="ctr"/>
          <a:lstStyle/>
          <a:p>
            <a:pPr algn="l" indent="0" marL="0">
              <a:buNone/>
            </a:pPr>
            <a:r>
              <a:rPr lang="en-US" sz="1400" b="1" dirty="0">
                <a:solidFill>
                  <a:srgbClr val="1A2238"/>
                </a:solidFill>
                <a:latin typeface="Calibri" pitchFamily="34" charset="0"/>
                <a:ea typeface="Calibri" pitchFamily="34" charset="-122"/>
                <a:cs typeface="Calibri" pitchFamily="34" charset="-120"/>
              </a:rPr>
              <a:t>Progression</a:t>
            </a:r>
            <a:endParaRPr lang="en-US" sz="1400" dirty="0"/>
          </a:p>
        </p:txBody>
      </p:sp>
      <p:sp>
        <p:nvSpPr>
          <p:cNvPr id="39" name="Text 37"/>
          <p:cNvSpPr/>
          <p:nvPr/>
        </p:nvSpPr>
        <p:spPr>
          <a:xfrm>
            <a:off x="6254496" y="3767328"/>
            <a:ext cx="2542032" cy="969264"/>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Dashboard : statistiques, streak de révision quotidien, distribution par matière.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2300" b="1" dirty="0">
                <a:solidFill>
                  <a:srgbClr val="FFFFFF"/>
                </a:solidFill>
                <a:latin typeface="Calibri" pitchFamily="34" charset="0"/>
                <a:ea typeface="Calibri" pitchFamily="34" charset="-122"/>
                <a:cs typeface="Calibri" pitchFamily="34" charset="-120"/>
              </a:rPr>
              <a:t>Répétition Espacée — Algorithme SuperMemo 2</a:t>
            </a:r>
            <a:endParaRPr lang="en-US" sz="2300" dirty="0"/>
          </a:p>
        </p:txBody>
      </p:sp>
      <p:sp>
        <p:nvSpPr>
          <p:cNvPr id="4" name="Text 2"/>
          <p:cNvSpPr/>
          <p:nvPr/>
        </p:nvSpPr>
        <p:spPr>
          <a:xfrm>
            <a:off x="365760" y="841248"/>
            <a:ext cx="8412480" cy="438912"/>
          </a:xfrm>
          <a:prstGeom prst="rect">
            <a:avLst/>
          </a:prstGeom>
          <a:noFill/>
          <a:ln/>
        </p:spPr>
        <p:txBody>
          <a:bodyPr wrap="square"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L'algorithme SM-2 calcule le prochain moment de révision optimal pour chaque flashcard selon la performance de l'utilisateur.</a:t>
            </a:r>
            <a:endParaRPr lang="en-US" sz="1300" dirty="0"/>
          </a:p>
        </p:txBody>
      </p:sp>
      <p:sp>
        <p:nvSpPr>
          <p:cNvPr id="5" name="Shape 3"/>
          <p:cNvSpPr/>
          <p:nvPr/>
        </p:nvSpPr>
        <p:spPr>
          <a:xfrm>
            <a:off x="274320" y="1353312"/>
            <a:ext cx="8595360" cy="987552"/>
          </a:xfrm>
          <a:prstGeom prst="rect">
            <a:avLst/>
          </a:prstGeom>
          <a:solidFill>
            <a:srgbClr val="162050"/>
          </a:solidFill>
          <a:ln w="12700">
            <a:solidFill>
              <a:srgbClr val="2E4DA3"/>
            </a:solidFill>
            <a:prstDash val="solid"/>
          </a:ln>
        </p:spPr>
      </p:sp>
      <p:sp>
        <p:nvSpPr>
          <p:cNvPr id="6" name="Text 4"/>
          <p:cNvSpPr/>
          <p:nvPr/>
        </p:nvSpPr>
        <p:spPr>
          <a:xfrm>
            <a:off x="457200" y="1389888"/>
            <a:ext cx="8229600" cy="914400"/>
          </a:xfrm>
          <a:prstGeom prst="rect">
            <a:avLst/>
          </a:prstGeom>
          <a:noFill/>
          <a:ln/>
        </p:spPr>
        <p:txBody>
          <a:bodyPr wrap="square" rtlCol="0" anchor="ctr"/>
          <a:lstStyle/>
          <a:p>
            <a:pPr algn="ctr" indent="0" marL="0">
              <a:buNone/>
            </a:pPr>
            <a:r>
              <a:rPr lang="en-US" sz="1600" b="1" dirty="0">
                <a:solidFill>
                  <a:srgbClr val="F5A623"/>
                </a:solidFill>
                <a:latin typeface="Consolas" pitchFamily="34" charset="0"/>
                <a:ea typeface="Consolas" pitchFamily="34" charset="-122"/>
                <a:cs typeface="Consolas" pitchFamily="34" charset="-120"/>
              </a:rPr>
              <a:t>EF' = EF + (0.1 − (5 − q) × (0.08 + (5 − q) × 0.02))</a:t>
            </a:r>
            <a:endParaRPr lang="en-US" sz="1600" dirty="0"/>
          </a:p>
          <a:p>
            <a:pPr algn="ctr" indent="0" marL="0">
              <a:buNone/>
            </a:pPr>
            <a:r>
              <a:rPr lang="en-US" sz="1400" dirty="0">
                <a:solidFill>
                  <a:srgbClr val="7BAAFF"/>
                </a:solidFill>
                <a:latin typeface="Consolas" pitchFamily="34" charset="0"/>
                <a:ea typeface="Consolas" pitchFamily="34" charset="-122"/>
                <a:cs typeface="Consolas" pitchFamily="34" charset="-120"/>
              </a:rPr>
              <a:t>Interval :  1 jour (1re fois)  →  6 jours  →  EF × intervalle précédent</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2423160"/>
          <a:ext cx="8412480" cy="2240280"/>
        </p:xfrm>
        <a:graphic>
          <a:graphicData uri="http://schemas.openxmlformats.org/drawingml/2006/table">
            <a:tbl>
              <a:tblPr/>
              <a:tblGrid>
                <a:gridCol w="2926080"/>
                <a:gridCol w="1645920"/>
                <a:gridCol w="3840480"/>
              </a:tblGrid>
              <a:tr h="3733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Réponse de l'étudiant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6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Qualité (q)</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6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Effet sur l'intervalle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2A6B"/>
                    </a:solidFill>
                  </a:tcPr>
                </a:tc>
              </a:tr>
              <a:tr h="373380">
                <a:tc>
                  <a:txBody>
                    <a:bodyPr/>
                    <a:lstStyle/>
                    <a:p>
                      <a:pPr indent="0" marL="0">
                        <a:buNone/>
                      </a:pPr>
                      <a:r>
                        <a:rPr lang="en-US" sz="1200" dirty="0">
                          <a:solidFill>
                            <a:srgbClr val="1A5C3A"/>
                          </a:solidFill>
                          <a:latin typeface="Calibri" pitchFamily="34" charset="0"/>
                          <a:ea typeface="Calibri" pitchFamily="34" charset="-122"/>
                          <a:cs typeface="Calibri" pitchFamily="34" charset="-120"/>
                        </a:rPr>
                        <a:t>Très facile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FFBEE"/>
                    </a:solidFill>
                  </a:tcPr>
                </a:tc>
                <a:tc>
                  <a:txBody>
                    <a:bodyPr/>
                    <a:lstStyle/>
                    <a:p>
                      <a:pPr algn="ctr" indent="0" marL="0">
                        <a:buNone/>
                      </a:pPr>
                      <a:r>
                        <a:rPr lang="en-US" sz="1200" dirty="0">
                          <a:solidFill>
                            <a:srgbClr val="1A5C3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FFBEE"/>
                    </a:solidFill>
                  </a:tcPr>
                </a:tc>
                <a:tc>
                  <a:txBody>
                    <a:bodyPr/>
                    <a:lstStyle/>
                    <a:p>
                      <a:pPr indent="0" marL="0">
                        <a:buNone/>
                      </a:pPr>
                      <a:r>
                        <a:rPr lang="en-US" sz="1200" dirty="0">
                          <a:solidFill>
                            <a:srgbClr val="1A5C3A"/>
                          </a:solidFill>
                          <a:latin typeface="Calibri" pitchFamily="34" charset="0"/>
                          <a:ea typeface="Calibri" pitchFamily="34" charset="-122"/>
                          <a:cs typeface="Calibri" pitchFamily="34" charset="-120"/>
                        </a:rPr>
                        <a:t>Intervalle × EF (augmente fortement)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DFFBEE"/>
                    </a:solidFill>
                  </a:tcPr>
                </a:tc>
              </a:tr>
              <a:tr h="373380">
                <a:tc>
                  <a:txBody>
                    <a:bodyPr/>
                    <a:lstStyle/>
                    <a:p>
                      <a:pPr indent="0" marL="0">
                        <a:buNone/>
                      </a:pPr>
                      <a:r>
                        <a:rPr lang="en-US" sz="1200" dirty="0">
                          <a:solidFill>
                            <a:srgbClr val="2E7D52"/>
                          </a:solidFill>
                          <a:latin typeface="Calibri" pitchFamily="34" charset="0"/>
                          <a:ea typeface="Calibri" pitchFamily="34" charset="-122"/>
                          <a:cs typeface="Calibri" pitchFamily="34" charset="-120"/>
                        </a:rPr>
                        <a:t>Facile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9F4"/>
                    </a:solidFill>
                  </a:tcPr>
                </a:tc>
                <a:tc>
                  <a:txBody>
                    <a:bodyPr/>
                    <a:lstStyle/>
                    <a:p>
                      <a:pPr algn="ctr" indent="0" marL="0">
                        <a:buNone/>
                      </a:pPr>
                      <a:r>
                        <a:rPr lang="en-US" sz="1200" dirty="0">
                          <a:solidFill>
                            <a:srgbClr val="2E7D52"/>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9F4"/>
                    </a:solidFill>
                  </a:tcPr>
                </a:tc>
                <a:tc>
                  <a:txBody>
                    <a:bodyPr/>
                    <a:lstStyle/>
                    <a:p>
                      <a:pPr indent="0" marL="0">
                        <a:buNone/>
                      </a:pPr>
                      <a:r>
                        <a:rPr lang="en-US" sz="1200" dirty="0">
                          <a:solidFill>
                            <a:srgbClr val="2E7D52"/>
                          </a:solidFill>
                          <a:latin typeface="Calibri" pitchFamily="34" charset="0"/>
                          <a:ea typeface="Calibri" pitchFamily="34" charset="-122"/>
                          <a:cs typeface="Calibri" pitchFamily="34" charset="-120"/>
                        </a:rPr>
                        <a:t>Intervalle × EF (augmente)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9F4"/>
                    </a:solidFill>
                  </a:tcPr>
                </a:tc>
              </a:tr>
              <a:tr h="373380">
                <a:tc>
                  <a:txBody>
                    <a:bodyPr/>
                    <a:lstStyle/>
                    <a:p>
                      <a:pPr indent="0" marL="0">
                        <a:buNone/>
                      </a:pPr>
                      <a:r>
                        <a:rPr lang="en-US" sz="1200" dirty="0">
                          <a:solidFill>
                            <a:srgbClr val="7A5C00"/>
                          </a:solidFill>
                          <a:latin typeface="Calibri" pitchFamily="34" charset="0"/>
                          <a:ea typeface="Calibri" pitchFamily="34" charset="-122"/>
                          <a:cs typeface="Calibri" pitchFamily="34" charset="-120"/>
                        </a:rPr>
                        <a:t>Moyen</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CE8"/>
                    </a:solidFill>
                  </a:tcPr>
                </a:tc>
                <a:tc>
                  <a:txBody>
                    <a:bodyPr/>
                    <a:lstStyle/>
                    <a:p>
                      <a:pPr algn="ctr" indent="0" marL="0">
                        <a:buNone/>
                      </a:pPr>
                      <a:r>
                        <a:rPr lang="en-US" sz="1200" dirty="0">
                          <a:solidFill>
                            <a:srgbClr val="7A5C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CE8"/>
                    </a:solidFill>
                  </a:tcPr>
                </a:tc>
                <a:tc>
                  <a:txBody>
                    <a:bodyPr/>
                    <a:lstStyle/>
                    <a:p>
                      <a:pPr indent="0" marL="0">
                        <a:buNone/>
                      </a:pPr>
                      <a:r>
                        <a:rPr lang="en-US" sz="1200" dirty="0">
                          <a:solidFill>
                            <a:srgbClr val="7A5C00"/>
                          </a:solidFill>
                          <a:latin typeface="Calibri" pitchFamily="34" charset="0"/>
                          <a:ea typeface="Calibri" pitchFamily="34" charset="-122"/>
                          <a:cs typeface="Calibri" pitchFamily="34" charset="-120"/>
                        </a:rPr>
                        <a:t>Intervalle × EF (augmentation légère)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CE8"/>
                    </a:solidFill>
                  </a:tcPr>
                </a:tc>
              </a:tr>
              <a:tr h="373380">
                <a:tc>
                  <a:txBody>
                    <a:bodyPr/>
                    <a:lstStyle/>
                    <a:p>
                      <a:pPr indent="0" marL="0">
                        <a:buNone/>
                      </a:pPr>
                      <a:r>
                        <a:rPr lang="en-US" sz="1200" dirty="0">
                          <a:solidFill>
                            <a:srgbClr val="8B2020"/>
                          </a:solidFill>
                          <a:latin typeface="Calibri" pitchFamily="34" charset="0"/>
                          <a:ea typeface="Calibri" pitchFamily="34" charset="-122"/>
                          <a:cs typeface="Calibri" pitchFamily="34" charset="-120"/>
                        </a:rPr>
                        <a:t>Difficile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0F0"/>
                    </a:solidFill>
                  </a:tcPr>
                </a:tc>
                <a:tc>
                  <a:txBody>
                    <a:bodyPr/>
                    <a:lstStyle/>
                    <a:p>
                      <a:pPr algn="ctr" indent="0" marL="0">
                        <a:buNone/>
                      </a:pPr>
                      <a:r>
                        <a:rPr lang="en-US" sz="1200" dirty="0">
                          <a:solidFill>
                            <a:srgbClr val="8B202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0F0"/>
                    </a:solidFill>
                  </a:tcPr>
                </a:tc>
                <a:tc>
                  <a:txBody>
                    <a:bodyPr/>
                    <a:lstStyle/>
                    <a:p>
                      <a:pPr indent="0" marL="0">
                        <a:buNone/>
                      </a:pPr>
                      <a:r>
                        <a:rPr lang="en-US" sz="1200" dirty="0">
                          <a:solidFill>
                            <a:srgbClr val="8B2020"/>
                          </a:solidFill>
                          <a:latin typeface="Calibri" pitchFamily="34" charset="0"/>
                          <a:ea typeface="Calibri" pitchFamily="34" charset="-122"/>
                          <a:cs typeface="Calibri" pitchFamily="34" charset="-120"/>
                        </a:rPr>
                        <a:t>Reset à 1 jour</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0F0"/>
                    </a:solidFill>
                  </a:tcPr>
                </a:tc>
              </a:tr>
              <a:tr h="373380">
                <a:tc>
                  <a:txBody>
                    <a:bodyPr/>
                    <a:lstStyle/>
                    <a:p>
                      <a:pPr indent="0" marL="0">
                        <a:buNone/>
                      </a:pPr>
                      <a:r>
                        <a:rPr lang="en-US" sz="1200" dirty="0">
                          <a:solidFill>
                            <a:srgbClr val="8B2020"/>
                          </a:solidFill>
                          <a:latin typeface="Calibri" pitchFamily="34" charset="0"/>
                          <a:ea typeface="Calibri" pitchFamily="34" charset="-122"/>
                          <a:cs typeface="Calibri" pitchFamily="34" charset="-120"/>
                        </a:rPr>
                        <a:t>Très difficile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E5E5"/>
                    </a:solidFill>
                  </a:tcPr>
                </a:tc>
                <a:tc>
                  <a:txBody>
                    <a:bodyPr/>
                    <a:lstStyle/>
                    <a:p>
                      <a:pPr algn="ctr" indent="0" marL="0">
                        <a:buNone/>
                      </a:pPr>
                      <a:r>
                        <a:rPr lang="en-US" sz="1200" dirty="0">
                          <a:solidFill>
                            <a:srgbClr val="8B202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E5E5"/>
                    </a:solidFill>
                  </a:tcPr>
                </a:tc>
                <a:tc>
                  <a:txBody>
                    <a:bodyPr/>
                    <a:lstStyle/>
                    <a:p>
                      <a:pPr indent="0" marL="0">
                        <a:buNone/>
                      </a:pPr>
                      <a:r>
                        <a:rPr lang="en-US" sz="1200" dirty="0">
                          <a:solidFill>
                            <a:srgbClr val="8B2020"/>
                          </a:solidFill>
                          <a:latin typeface="Calibri" pitchFamily="34" charset="0"/>
                          <a:ea typeface="Calibri" pitchFamily="34" charset="-122"/>
                          <a:cs typeface="Calibri" pitchFamily="34" charset="-120"/>
                        </a:rPr>
                        <a:t>Reset à 1 jour</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E5E5"/>
                    </a:solidFill>
                  </a:tcPr>
                </a:tc>
              </a:tr>
            </a:tbl>
          </a:graphicData>
        </a:graphic>
      </p:graphicFrame>
      <p:sp>
        <p:nvSpPr>
          <p:cNvPr id="8" name="Text 5"/>
          <p:cNvSpPr/>
          <p:nvPr/>
        </p:nvSpPr>
        <p:spPr>
          <a:xfrm>
            <a:off x="365760" y="4773168"/>
            <a:ext cx="8412480" cy="320040"/>
          </a:xfrm>
          <a:prstGeom prst="rect">
            <a:avLst/>
          </a:prstGeom>
          <a:noFill/>
          <a:ln/>
        </p:spPr>
        <p:txBody>
          <a:bodyPr wrap="square" rtlCol="0" anchor="ctr"/>
          <a:lstStyle/>
          <a:p>
            <a:pPr algn="ctr" indent="0" marL="0">
              <a:buNone/>
            </a:pPr>
            <a:r>
              <a:rPr lang="en-US" sz="1100" b="1" i="1" dirty="0">
                <a:solidFill>
                  <a:srgbClr val="1B2A6B"/>
                </a:solidFill>
                <a:latin typeface="Calibri" pitchFamily="34" charset="0"/>
                <a:ea typeface="Calibri" pitchFamily="34" charset="-122"/>
                <a:cs typeface="Calibri" pitchFamily="34" charset="-120"/>
              </a:rPr>
              <a:t>La carte "Facile" ne réapparaît que dans 4 à 15 jours · La carte "Difficile" revient dès le lendemain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RAG — Un Assistant qui ne ment pas</a:t>
            </a:r>
            <a:endParaRPr lang="en-US" sz="2600" dirty="0"/>
          </a:p>
        </p:txBody>
      </p:sp>
      <p:sp>
        <p:nvSpPr>
          <p:cNvPr id="4" name="Shape 2"/>
          <p:cNvSpPr/>
          <p:nvPr/>
        </p:nvSpPr>
        <p:spPr>
          <a:xfrm>
            <a:off x="274320" y="868680"/>
            <a:ext cx="8595360" cy="384048"/>
          </a:xfrm>
          <a:prstGeom prst="rect">
            <a:avLst/>
          </a:prstGeom>
          <a:solidFill>
            <a:srgbClr val="EEF2FF"/>
          </a:solidFill>
          <a:ln w="12700">
            <a:solidFill>
              <a:srgbClr val="C7D2F0"/>
            </a:solidFill>
            <a:prstDash val="solid"/>
          </a:ln>
        </p:spPr>
      </p:sp>
      <p:sp>
        <p:nvSpPr>
          <p:cNvPr id="5" name="Text 3"/>
          <p:cNvSpPr/>
          <p:nvPr/>
        </p:nvSpPr>
        <p:spPr>
          <a:xfrm>
            <a:off x="365760" y="877824"/>
            <a:ext cx="8412480" cy="365760"/>
          </a:xfrm>
          <a:prstGeom prst="rect">
            <a:avLst/>
          </a:prstGeom>
          <a:noFill/>
          <a:ln/>
        </p:spPr>
        <p:txBody>
          <a:bodyPr wrap="square" rtlCol="0" anchor="ctr"/>
          <a:lstStyle/>
          <a:p>
            <a:pPr algn="ctr" indent="0" marL="0">
              <a:buNone/>
            </a:pPr>
            <a:r>
              <a:rPr lang="en-US" sz="1200" i="1" dirty="0">
                <a:solidFill>
                  <a:srgbClr val="1B2A6B"/>
                </a:solidFill>
                <a:latin typeface="Calibri" pitchFamily="34" charset="0"/>
                <a:ea typeface="Calibri" pitchFamily="34" charset="-122"/>
                <a:cs typeface="Calibri" pitchFamily="34" charset="-120"/>
              </a:rPr>
              <a:t>RAG = Retrieval-Augmented Generation — Enrichir les réponses du LLM avec des sources fiables et vérifiées</a:t>
            </a:r>
            <a:endParaRPr lang="en-US" sz="1200" dirty="0"/>
          </a:p>
        </p:txBody>
      </p:sp>
      <p:sp>
        <p:nvSpPr>
          <p:cNvPr id="6" name="Shape 4"/>
          <p:cNvSpPr/>
          <p:nvPr/>
        </p:nvSpPr>
        <p:spPr>
          <a:xfrm>
            <a:off x="274320" y="1325880"/>
            <a:ext cx="8595360" cy="74980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7" name="Shape 5"/>
          <p:cNvSpPr/>
          <p:nvPr/>
        </p:nvSpPr>
        <p:spPr>
          <a:xfrm>
            <a:off x="274320" y="1325880"/>
            <a:ext cx="64008" cy="749808"/>
          </a:xfrm>
          <a:prstGeom prst="rect">
            <a:avLst/>
          </a:prstGeom>
          <a:solidFill>
            <a:srgbClr val="E74C3C"/>
          </a:solidFill>
          <a:ln w="12700">
            <a:solidFill>
              <a:srgbClr val="E74C3C"/>
            </a:solidFill>
            <a:prstDash val="solid"/>
          </a:ln>
        </p:spPr>
      </p:sp>
      <p:sp>
        <p:nvSpPr>
          <p:cNvPr id="8" name="Text 6"/>
          <p:cNvSpPr/>
          <p:nvPr/>
        </p:nvSpPr>
        <p:spPr>
          <a:xfrm>
            <a:off x="457200" y="1353312"/>
            <a:ext cx="8229600" cy="694944"/>
          </a:xfrm>
          <a:prstGeom prst="rect">
            <a:avLst/>
          </a:prstGeom>
          <a:noFill/>
          <a:ln/>
        </p:spPr>
        <p:txBody>
          <a:bodyPr wrap="square" rtlCol="0" anchor="ctr"/>
          <a:lstStyle/>
          <a:p>
            <a:pPr algn="l" indent="0" marL="0">
              <a:buNone/>
            </a:pPr>
            <a:r>
              <a:rPr lang="en-US" sz="1300" b="1" dirty="0">
                <a:solidFill>
                  <a:srgbClr val="C0392B"/>
                </a:solidFill>
                <a:latin typeface="Calibri" pitchFamily="34" charset="0"/>
                <a:ea typeface="Calibri" pitchFamily="34" charset="-122"/>
                <a:cs typeface="Calibri" pitchFamily="34" charset="-120"/>
              </a:rPr>
              <a:t>Problème : </a:t>
            </a:r>
            <a:pPr algn="l" indent="0" marL="0">
              <a:buNone/>
            </a:pPr>
            <a:r>
              <a:rPr lang="en-US" sz="1300" dirty="0">
                <a:solidFill>
                  <a:srgbClr val="4B5563"/>
                </a:solidFill>
                <a:latin typeface="Calibri" pitchFamily="34" charset="0"/>
                <a:ea typeface="Calibri" pitchFamily="34" charset="-122"/>
                <a:cs typeface="Calibri" pitchFamily="34" charset="-120"/>
              </a:rPr>
              <a:t>Un LLM standard répond avec ses connaissances générales d'Internet → risque élevé d'hallucinations et de réponses hors-cours</a:t>
            </a:r>
            <a:endParaRPr lang="en-US" sz="1300" dirty="0"/>
          </a:p>
        </p:txBody>
      </p:sp>
      <p:sp>
        <p:nvSpPr>
          <p:cNvPr id="9" name="Shape 7"/>
          <p:cNvSpPr/>
          <p:nvPr/>
        </p:nvSpPr>
        <p:spPr>
          <a:xfrm>
            <a:off x="274320" y="2176272"/>
            <a:ext cx="2788920" cy="157276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0" name="Shape 8"/>
          <p:cNvSpPr/>
          <p:nvPr/>
        </p:nvSpPr>
        <p:spPr>
          <a:xfrm>
            <a:off x="274320" y="2176272"/>
            <a:ext cx="2788920" cy="64008"/>
          </a:xfrm>
          <a:prstGeom prst="rect">
            <a:avLst/>
          </a:prstGeom>
          <a:solidFill>
            <a:srgbClr val="1B2A6B"/>
          </a:solidFill>
          <a:ln w="12700">
            <a:solidFill>
              <a:srgbClr val="1B2A6B"/>
            </a:solidFill>
            <a:prstDash val="solid"/>
          </a:ln>
        </p:spPr>
      </p:sp>
      <p:sp>
        <p:nvSpPr>
          <p:cNvPr id="11" name="Shape 9"/>
          <p:cNvSpPr/>
          <p:nvPr/>
        </p:nvSpPr>
        <p:spPr>
          <a:xfrm>
            <a:off x="429768" y="2331720"/>
            <a:ext cx="475488" cy="475488"/>
          </a:xfrm>
          <a:prstGeom prst="ellipse">
            <a:avLst/>
          </a:prstGeom>
          <a:solidFill>
            <a:srgbClr val="1B2A6B"/>
          </a:solidFill>
          <a:ln w="12700">
            <a:solidFill>
              <a:srgbClr val="1B2A6B"/>
            </a:solidFill>
            <a:prstDash val="solid"/>
          </a:ln>
        </p:spPr>
      </p:sp>
      <p:sp>
        <p:nvSpPr>
          <p:cNvPr id="12" name="Text 10"/>
          <p:cNvSpPr/>
          <p:nvPr/>
        </p:nvSpPr>
        <p:spPr>
          <a:xfrm>
            <a:off x="429768" y="233172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1</a:t>
            </a:r>
            <a:endParaRPr lang="en-US" sz="1144" dirty="0"/>
          </a:p>
        </p:txBody>
      </p:sp>
      <p:sp>
        <p:nvSpPr>
          <p:cNvPr id="13" name="Text 11"/>
          <p:cNvSpPr/>
          <p:nvPr/>
        </p:nvSpPr>
        <p:spPr>
          <a:xfrm>
            <a:off x="1024128" y="2331720"/>
            <a:ext cx="1920240" cy="438912"/>
          </a:xfrm>
          <a:prstGeom prst="rect">
            <a:avLst/>
          </a:prstGeom>
          <a:noFill/>
          <a:ln/>
        </p:spPr>
        <p:txBody>
          <a:bodyPr wrap="square" lIns="0" tIns="0" rIns="0" bIns="0" rtlCol="0" anchor="ctr"/>
          <a:lstStyle/>
          <a:p>
            <a:pPr algn="l" indent="0" marL="0">
              <a:buNone/>
            </a:pPr>
            <a:r>
              <a:rPr lang="en-US" sz="1300" b="1" dirty="0">
                <a:solidFill>
                  <a:srgbClr val="1B2A6B"/>
                </a:solidFill>
                <a:latin typeface="Calibri" pitchFamily="34" charset="0"/>
                <a:ea typeface="Calibri" pitchFamily="34" charset="-122"/>
                <a:cs typeface="Calibri" pitchFamily="34" charset="-120"/>
              </a:rPr>
              <a:t>RETRIEVE</a:t>
            </a:r>
            <a:endParaRPr lang="en-US" sz="1300" dirty="0"/>
          </a:p>
        </p:txBody>
      </p:sp>
      <p:sp>
        <p:nvSpPr>
          <p:cNvPr id="14" name="Text 12"/>
          <p:cNvSpPr/>
          <p:nvPr/>
        </p:nvSpPr>
        <p:spPr>
          <a:xfrm>
            <a:off x="429768" y="2880360"/>
            <a:ext cx="2487168" cy="82296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Recherche vectorielle (ChromaDB) dans les notes de l'étudiant — extraits pertinents uniquement</a:t>
            </a:r>
            <a:endParaRPr lang="en-US" sz="1150" dirty="0"/>
          </a:p>
        </p:txBody>
      </p:sp>
      <p:sp>
        <p:nvSpPr>
          <p:cNvPr id="15" name="Shape 13"/>
          <p:cNvSpPr/>
          <p:nvPr/>
        </p:nvSpPr>
        <p:spPr>
          <a:xfrm>
            <a:off x="3182112" y="2176272"/>
            <a:ext cx="2788920" cy="157276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6" name="Shape 14"/>
          <p:cNvSpPr/>
          <p:nvPr/>
        </p:nvSpPr>
        <p:spPr>
          <a:xfrm>
            <a:off x="3182112" y="2176272"/>
            <a:ext cx="2788920" cy="64008"/>
          </a:xfrm>
          <a:prstGeom prst="rect">
            <a:avLst/>
          </a:prstGeom>
          <a:solidFill>
            <a:srgbClr val="0D9488"/>
          </a:solidFill>
          <a:ln w="12700">
            <a:solidFill>
              <a:srgbClr val="0D9488"/>
            </a:solidFill>
            <a:prstDash val="solid"/>
          </a:ln>
        </p:spPr>
      </p:sp>
      <p:sp>
        <p:nvSpPr>
          <p:cNvPr id="17" name="Shape 15"/>
          <p:cNvSpPr/>
          <p:nvPr/>
        </p:nvSpPr>
        <p:spPr>
          <a:xfrm>
            <a:off x="3337560" y="2331720"/>
            <a:ext cx="475488" cy="475488"/>
          </a:xfrm>
          <a:prstGeom prst="ellipse">
            <a:avLst/>
          </a:prstGeom>
          <a:solidFill>
            <a:srgbClr val="0D9488"/>
          </a:solidFill>
          <a:ln w="12700">
            <a:solidFill>
              <a:srgbClr val="0D9488"/>
            </a:solidFill>
            <a:prstDash val="solid"/>
          </a:ln>
        </p:spPr>
      </p:sp>
      <p:sp>
        <p:nvSpPr>
          <p:cNvPr id="18" name="Text 16"/>
          <p:cNvSpPr/>
          <p:nvPr/>
        </p:nvSpPr>
        <p:spPr>
          <a:xfrm>
            <a:off x="3337560" y="233172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2</a:t>
            </a:r>
            <a:endParaRPr lang="en-US" sz="1144" dirty="0"/>
          </a:p>
        </p:txBody>
      </p:sp>
      <p:sp>
        <p:nvSpPr>
          <p:cNvPr id="19" name="Text 17"/>
          <p:cNvSpPr/>
          <p:nvPr/>
        </p:nvSpPr>
        <p:spPr>
          <a:xfrm>
            <a:off x="3931920" y="2331720"/>
            <a:ext cx="1920240" cy="438912"/>
          </a:xfrm>
          <a:prstGeom prst="rect">
            <a:avLst/>
          </a:prstGeom>
          <a:noFill/>
          <a:ln/>
        </p:spPr>
        <p:txBody>
          <a:bodyPr wrap="square" lIns="0" tIns="0" rIns="0" bIns="0" rtlCol="0" anchor="ctr"/>
          <a:lstStyle/>
          <a:p>
            <a:pPr algn="l" indent="0" marL="0">
              <a:buNone/>
            </a:pPr>
            <a:r>
              <a:rPr lang="en-US" sz="1300" b="1" dirty="0">
                <a:solidFill>
                  <a:srgbClr val="0D9488"/>
                </a:solidFill>
                <a:latin typeface="Calibri" pitchFamily="34" charset="0"/>
                <a:ea typeface="Calibri" pitchFamily="34" charset="-122"/>
                <a:cs typeface="Calibri" pitchFamily="34" charset="-120"/>
              </a:rPr>
              <a:t>AUGMENT</a:t>
            </a:r>
            <a:endParaRPr lang="en-US" sz="1300" dirty="0"/>
          </a:p>
        </p:txBody>
      </p:sp>
      <p:sp>
        <p:nvSpPr>
          <p:cNvPr id="20" name="Text 18"/>
          <p:cNvSpPr/>
          <p:nvPr/>
        </p:nvSpPr>
        <p:spPr>
          <a:xfrm>
            <a:off x="3337560" y="2880360"/>
            <a:ext cx="2487168" cy="82296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Ces extraits sont injectés dans le prompt du LLM comme contexte additionnel ciblé</a:t>
            </a:r>
            <a:endParaRPr lang="en-US" sz="1150" dirty="0"/>
          </a:p>
        </p:txBody>
      </p:sp>
      <p:sp>
        <p:nvSpPr>
          <p:cNvPr id="21" name="Shape 19"/>
          <p:cNvSpPr/>
          <p:nvPr/>
        </p:nvSpPr>
        <p:spPr>
          <a:xfrm>
            <a:off x="6089904" y="2176272"/>
            <a:ext cx="2788920" cy="157276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22" name="Shape 20"/>
          <p:cNvSpPr/>
          <p:nvPr/>
        </p:nvSpPr>
        <p:spPr>
          <a:xfrm>
            <a:off x="6089904" y="2176272"/>
            <a:ext cx="2788920" cy="64008"/>
          </a:xfrm>
          <a:prstGeom prst="rect">
            <a:avLst/>
          </a:prstGeom>
          <a:solidFill>
            <a:srgbClr val="7B3FA0"/>
          </a:solidFill>
          <a:ln w="12700">
            <a:solidFill>
              <a:srgbClr val="7B3FA0"/>
            </a:solidFill>
            <a:prstDash val="solid"/>
          </a:ln>
        </p:spPr>
      </p:sp>
      <p:sp>
        <p:nvSpPr>
          <p:cNvPr id="23" name="Shape 21"/>
          <p:cNvSpPr/>
          <p:nvPr/>
        </p:nvSpPr>
        <p:spPr>
          <a:xfrm>
            <a:off x="6245352" y="2331720"/>
            <a:ext cx="475488" cy="475488"/>
          </a:xfrm>
          <a:prstGeom prst="ellipse">
            <a:avLst/>
          </a:prstGeom>
          <a:solidFill>
            <a:srgbClr val="7B3FA0"/>
          </a:solidFill>
          <a:ln w="12700">
            <a:solidFill>
              <a:srgbClr val="7B3FA0"/>
            </a:solidFill>
            <a:prstDash val="solid"/>
          </a:ln>
        </p:spPr>
      </p:sp>
      <p:sp>
        <p:nvSpPr>
          <p:cNvPr id="24" name="Text 22"/>
          <p:cNvSpPr/>
          <p:nvPr/>
        </p:nvSpPr>
        <p:spPr>
          <a:xfrm>
            <a:off x="6245352" y="233172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rPr>
              <a:t>3</a:t>
            </a:r>
            <a:endParaRPr lang="en-US" sz="1144" dirty="0"/>
          </a:p>
        </p:txBody>
      </p:sp>
      <p:sp>
        <p:nvSpPr>
          <p:cNvPr id="25" name="Text 23"/>
          <p:cNvSpPr/>
          <p:nvPr/>
        </p:nvSpPr>
        <p:spPr>
          <a:xfrm>
            <a:off x="6839712" y="2331720"/>
            <a:ext cx="1920240" cy="438912"/>
          </a:xfrm>
          <a:prstGeom prst="rect">
            <a:avLst/>
          </a:prstGeom>
          <a:noFill/>
          <a:ln/>
        </p:spPr>
        <p:txBody>
          <a:bodyPr wrap="square" lIns="0" tIns="0" rIns="0" bIns="0" rtlCol="0" anchor="ctr"/>
          <a:lstStyle/>
          <a:p>
            <a:pPr algn="l" indent="0" marL="0">
              <a:buNone/>
            </a:pPr>
            <a:r>
              <a:rPr lang="en-US" sz="1300" b="1" dirty="0">
                <a:solidFill>
                  <a:srgbClr val="7B3FA0"/>
                </a:solidFill>
                <a:latin typeface="Calibri" pitchFamily="34" charset="0"/>
                <a:ea typeface="Calibri" pitchFamily="34" charset="-122"/>
                <a:cs typeface="Calibri" pitchFamily="34" charset="-120"/>
              </a:rPr>
              <a:t>GENERATE</a:t>
            </a:r>
            <a:endParaRPr lang="en-US" sz="1300" dirty="0"/>
          </a:p>
        </p:txBody>
      </p:sp>
      <p:sp>
        <p:nvSpPr>
          <p:cNvPr id="26" name="Text 24"/>
          <p:cNvSpPr/>
          <p:nvPr/>
        </p:nvSpPr>
        <p:spPr>
          <a:xfrm>
            <a:off x="6245352" y="2880360"/>
            <a:ext cx="2487168" cy="822960"/>
          </a:xfrm>
          <a:prstGeom prst="rect">
            <a:avLst/>
          </a:prstGeom>
          <a:noFill/>
          <a:ln/>
        </p:spPr>
        <p:txBody>
          <a:bodyPr wrap="square" rtlCol="0" anchor="t"/>
          <a:lstStyle/>
          <a:p>
            <a:pPr algn="l" indent="0" marL="0">
              <a:buNone/>
            </a:pPr>
            <a:r>
              <a:rPr lang="en-US" sz="1150" dirty="0">
                <a:solidFill>
                  <a:srgbClr val="4B5563"/>
                </a:solidFill>
                <a:latin typeface="Calibri" pitchFamily="34" charset="0"/>
                <a:ea typeface="Calibri" pitchFamily="34" charset="-122"/>
                <a:cs typeface="Calibri" pitchFamily="34" charset="-120"/>
              </a:rPr>
              <a:t>Le LLM génère sa réponse UNIQUEMENT avec ce contexte — sans accès à Internet</a:t>
            </a:r>
            <a:endParaRPr lang="en-US" sz="1150" dirty="0"/>
          </a:p>
        </p:txBody>
      </p:sp>
      <p:sp>
        <p:nvSpPr>
          <p:cNvPr id="27" name="Shape 25"/>
          <p:cNvSpPr/>
          <p:nvPr/>
        </p:nvSpPr>
        <p:spPr>
          <a:xfrm>
            <a:off x="3063240" y="2962656"/>
            <a:ext cx="118872" cy="0"/>
          </a:xfrm>
          <a:prstGeom prst="line">
            <a:avLst/>
          </a:prstGeom>
          <a:noFill/>
          <a:ln w="19050">
            <a:solidFill>
              <a:srgbClr val="9CA3AF"/>
            </a:solidFill>
            <a:prstDash val="solid"/>
          </a:ln>
        </p:spPr>
      </p:sp>
      <p:sp>
        <p:nvSpPr>
          <p:cNvPr id="28" name="Shape 26"/>
          <p:cNvSpPr/>
          <p:nvPr/>
        </p:nvSpPr>
        <p:spPr>
          <a:xfrm>
            <a:off x="5971032" y="2962656"/>
            <a:ext cx="118872" cy="0"/>
          </a:xfrm>
          <a:prstGeom prst="line">
            <a:avLst/>
          </a:prstGeom>
          <a:noFill/>
          <a:ln w="19050">
            <a:solidFill>
              <a:srgbClr val="9CA3AF"/>
            </a:solidFill>
            <a:prstDash val="solid"/>
          </a:ln>
        </p:spPr>
      </p:sp>
      <p:sp>
        <p:nvSpPr>
          <p:cNvPr id="29" name="Shape 27"/>
          <p:cNvSpPr/>
          <p:nvPr/>
        </p:nvSpPr>
        <p:spPr>
          <a:xfrm>
            <a:off x="274320" y="3858768"/>
            <a:ext cx="8595360" cy="1078992"/>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30" name="Shape 28"/>
          <p:cNvSpPr/>
          <p:nvPr/>
        </p:nvSpPr>
        <p:spPr>
          <a:xfrm>
            <a:off x="274320" y="3858768"/>
            <a:ext cx="64008" cy="1078992"/>
          </a:xfrm>
          <a:prstGeom prst="rect">
            <a:avLst/>
          </a:prstGeom>
          <a:solidFill>
            <a:srgbClr val="27AE60"/>
          </a:solidFill>
          <a:ln w="12700">
            <a:solidFill>
              <a:srgbClr val="27AE60"/>
            </a:solidFill>
            <a:prstDash val="solid"/>
          </a:ln>
        </p:spPr>
      </p:sp>
      <p:sp>
        <p:nvSpPr>
          <p:cNvPr id="31" name="Text 29"/>
          <p:cNvSpPr/>
          <p:nvPr/>
        </p:nvSpPr>
        <p:spPr>
          <a:xfrm>
            <a:off x="457200" y="3886200"/>
            <a:ext cx="8229600" cy="1024128"/>
          </a:xfrm>
          <a:prstGeom prst="rect">
            <a:avLst/>
          </a:prstGeom>
          <a:noFill/>
          <a:ln/>
        </p:spPr>
        <p:txBody>
          <a:bodyPr wrap="square" rtlCol="0" anchor="ctr"/>
          <a:lstStyle/>
          <a:p>
            <a:pPr algn="l" indent="0" marL="0">
              <a:buNone/>
            </a:pPr>
            <a:r>
              <a:rPr lang="en-US" sz="1300" b="1" dirty="0">
                <a:solidFill>
                  <a:srgbClr val="1E7A4B"/>
                </a:solidFill>
                <a:latin typeface="Calibri" pitchFamily="34" charset="0"/>
                <a:ea typeface="Calibri" pitchFamily="34" charset="-122"/>
                <a:cs typeface="Calibri" pitchFamily="34" charset="-120"/>
              </a:rPr>
              <a:t>Résultat : </a:t>
            </a:r>
            <a:pPr algn="l" indent="0" marL="0">
              <a:buNone/>
            </a:pPr>
            <a:r>
              <a:rPr lang="en-US" sz="1300" dirty="0">
                <a:solidFill>
                  <a:srgbClr val="2D4A3E"/>
                </a:solidFill>
                <a:latin typeface="Calibri" pitchFamily="34" charset="0"/>
                <a:ea typeface="Calibri" pitchFamily="34" charset="-122"/>
                <a:cs typeface="Calibri" pitchFamily="34" charset="-120"/>
              </a:rPr>
              <a:t>L'assistant répond comme un tuteur personnel qui n'a lu QUE les notes de l'étudiant — sans risque d'hallucination ou de contenu hors-cours. La source de chaque réponse est traçable.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Sécurité &amp; Robustesse</a:t>
            </a:r>
            <a:endParaRPr lang="en-US" sz="2800" dirty="0"/>
          </a:p>
        </p:txBody>
      </p:sp>
      <p:sp>
        <p:nvSpPr>
          <p:cNvPr id="4" name="Shape 2"/>
          <p:cNvSpPr/>
          <p:nvPr/>
        </p:nvSpPr>
        <p:spPr>
          <a:xfrm>
            <a:off x="274320" y="914400"/>
            <a:ext cx="4114800" cy="408736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5" name="Shape 3"/>
          <p:cNvSpPr/>
          <p:nvPr/>
        </p:nvSpPr>
        <p:spPr>
          <a:xfrm>
            <a:off x="274320" y="914400"/>
            <a:ext cx="4114800" cy="502920"/>
          </a:xfrm>
          <a:prstGeom prst="rect">
            <a:avLst/>
          </a:prstGeom>
          <a:solidFill>
            <a:srgbClr val="1B2A6B"/>
          </a:solidFill>
          <a:ln w="12700">
            <a:solidFill>
              <a:srgbClr val="1B2A6B"/>
            </a:solidFill>
            <a:prstDash val="solid"/>
          </a:ln>
        </p:spPr>
      </p:sp>
      <p:sp>
        <p:nvSpPr>
          <p:cNvPr id="6" name="Text 4"/>
          <p:cNvSpPr/>
          <p:nvPr/>
        </p:nvSpPr>
        <p:spPr>
          <a:xfrm>
            <a:off x="438912" y="932688"/>
            <a:ext cx="3794760" cy="466344"/>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Securite</a:t>
            </a:r>
            <a:endParaRPr lang="en-US" sz="1500" dirty="0"/>
          </a:p>
        </p:txBody>
      </p:sp>
      <p:sp>
        <p:nvSpPr>
          <p:cNvPr id="7" name="Text 5"/>
          <p:cNvSpPr/>
          <p:nvPr/>
        </p:nvSpPr>
        <p:spPr>
          <a:xfrm>
            <a:off x="438912" y="1508760"/>
            <a:ext cx="3840480" cy="3401568"/>
          </a:xfrm>
          <a:prstGeom prst="rect">
            <a:avLst/>
          </a:prstGeom>
          <a:noFill/>
          <a:ln/>
        </p:spPr>
        <p:txBody>
          <a:bodyPr wrap="square" rtlCol="0" anchor="t"/>
          <a:lstStyle/>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JWT (HS256) : Access Token 30 min + Refresh Token 30 jours</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Bcrypt : hachage irreversible des mots de passe</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CORS strict : liste blanche explicite des origines autorisees</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Ownership check : user_id verifie avant chaque acces ressource</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Rate Limiting : slowapi protege contre les abus et DDoS</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Headers HTTP : X-Content-Type-Options, X-Frame-Options, XSS</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GridFS : verification proprietaire avant serving des images</a:t>
            </a:r>
            <a:endParaRPr lang="en-US" sz="1200" dirty="0"/>
          </a:p>
        </p:txBody>
      </p:sp>
      <p:sp>
        <p:nvSpPr>
          <p:cNvPr id="8" name="Shape 6"/>
          <p:cNvSpPr/>
          <p:nvPr/>
        </p:nvSpPr>
        <p:spPr>
          <a:xfrm>
            <a:off x="4754880" y="914400"/>
            <a:ext cx="4114800" cy="4087368"/>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9" name="Shape 7"/>
          <p:cNvSpPr/>
          <p:nvPr/>
        </p:nvSpPr>
        <p:spPr>
          <a:xfrm>
            <a:off x="4754880" y="914400"/>
            <a:ext cx="4114800" cy="502920"/>
          </a:xfrm>
          <a:prstGeom prst="rect">
            <a:avLst/>
          </a:prstGeom>
          <a:solidFill>
            <a:srgbClr val="0D9488"/>
          </a:solidFill>
          <a:ln w="12700">
            <a:solidFill>
              <a:srgbClr val="0D9488"/>
            </a:solidFill>
            <a:prstDash val="solid"/>
          </a:ln>
        </p:spPr>
      </p:sp>
      <p:sp>
        <p:nvSpPr>
          <p:cNvPr id="10" name="Text 8"/>
          <p:cNvSpPr/>
          <p:nvPr/>
        </p:nvSpPr>
        <p:spPr>
          <a:xfrm>
            <a:off x="4919472" y="932688"/>
            <a:ext cx="3794760" cy="466344"/>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Robustesse</a:t>
            </a:r>
            <a:endParaRPr lang="en-US" sz="1500" dirty="0"/>
          </a:p>
        </p:txBody>
      </p:sp>
      <p:sp>
        <p:nvSpPr>
          <p:cNvPr id="11" name="Text 9"/>
          <p:cNvSpPr/>
          <p:nvPr/>
        </p:nvSpPr>
        <p:spPr>
          <a:xfrm>
            <a:off x="4919472" y="1508760"/>
            <a:ext cx="3840480" cy="3401568"/>
          </a:xfrm>
          <a:prstGeom prst="rect">
            <a:avLst/>
          </a:prstGeom>
          <a:noFill/>
          <a:ln/>
        </p:spPr>
        <p:txBody>
          <a:bodyPr wrap="square" rtlCol="0" anchor="t"/>
          <a:lstStyle/>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ServiceUnavailableError → HTTP 503 (MongoDB deconnecte)</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Fallback OCR : confiance faible → LLM multimodal (Vision)</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Validation Pydantic : toutes les entrees API validees et typees</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Note delete : cascade automatique Quiz + Flashcards + RAG</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Mode degrade : local filesystem si GridFS indisponible</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13+ fichiers de tests pytest (unitaires + integration)</a:t>
            </a:r>
            <a:endParaRPr lang="en-US" sz="1200" dirty="0"/>
          </a:p>
          <a:p>
            <a:pPr marL="342900" indent="-342900">
              <a:spcAft>
                <a:spcPts val="600"/>
              </a:spcAft>
              <a:buSzPct val="100000"/>
              <a:buChar char="•"/>
            </a:pPr>
            <a:r>
              <a:rPr lang="en-US" sz="1200" dirty="0">
                <a:solidFill>
                  <a:srgbClr val="1A2238"/>
                </a:solidFill>
                <a:latin typeface="Calibri" pitchFamily="34" charset="0"/>
                <a:ea typeface="Calibri" pitchFamily="34" charset="-122"/>
                <a:cs typeface="Calibri" pitchFamily="34" charset="-120"/>
              </a:rPr>
              <a:t>Health check endpoint /health surveille l'etat de la BDD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Frontend — React Native / Expo</a:t>
            </a:r>
            <a:endParaRPr lang="en-US" sz="2600" dirty="0"/>
          </a:p>
        </p:txBody>
      </p:sp>
      <p:sp>
        <p:nvSpPr>
          <p:cNvPr id="4" name="Shape 2"/>
          <p:cNvSpPr/>
          <p:nvPr/>
        </p:nvSpPr>
        <p:spPr>
          <a:xfrm>
            <a:off x="365760" y="868680"/>
            <a:ext cx="2011680" cy="329184"/>
          </a:xfrm>
          <a:prstGeom prst="rect">
            <a:avLst/>
          </a:prstGeom>
          <a:solidFill>
            <a:srgbClr val="EEF2FF"/>
          </a:solidFill>
          <a:ln w="12700">
            <a:solidFill>
              <a:srgbClr val="EEF2FF"/>
            </a:solidFill>
            <a:prstDash val="solid"/>
          </a:ln>
        </p:spPr>
      </p:sp>
      <p:sp>
        <p:nvSpPr>
          <p:cNvPr id="5" name="Text 3"/>
          <p:cNvSpPr/>
          <p:nvPr/>
        </p:nvSpPr>
        <p:spPr>
          <a:xfrm>
            <a:off x="365760" y="868680"/>
            <a:ext cx="2011680" cy="329184"/>
          </a:xfrm>
          <a:prstGeom prst="rect">
            <a:avLst/>
          </a:prstGeom>
          <a:noFill/>
          <a:ln/>
        </p:spPr>
        <p:txBody>
          <a:bodyPr wrap="square" rtlCol="0" anchor="ctr"/>
          <a:lstStyle/>
          <a:p>
            <a:pPr algn="ctr" indent="0" marL="0">
              <a:buNone/>
            </a:pPr>
            <a:r>
              <a:rPr lang="en-US" sz="1100" b="1" dirty="0">
                <a:solidFill>
                  <a:srgbClr val="1B2A6B"/>
                </a:solidFill>
                <a:latin typeface="Calibri" pitchFamily="34" charset="0"/>
                <a:ea typeface="Calibri" pitchFamily="34" charset="-122"/>
                <a:cs typeface="Calibri" pitchFamily="34" charset="-120"/>
              </a:rPr>
              <a:t>Expo SDK 54</a:t>
            </a:r>
            <a:endParaRPr lang="en-US" sz="1100" dirty="0"/>
          </a:p>
        </p:txBody>
      </p:sp>
      <p:sp>
        <p:nvSpPr>
          <p:cNvPr id="6" name="Shape 4"/>
          <p:cNvSpPr/>
          <p:nvPr/>
        </p:nvSpPr>
        <p:spPr>
          <a:xfrm>
            <a:off x="2496312" y="868680"/>
            <a:ext cx="2011680" cy="329184"/>
          </a:xfrm>
          <a:prstGeom prst="rect">
            <a:avLst/>
          </a:prstGeom>
          <a:solidFill>
            <a:srgbClr val="EEF2FF"/>
          </a:solidFill>
          <a:ln w="12700">
            <a:solidFill>
              <a:srgbClr val="EEF2FF"/>
            </a:solidFill>
            <a:prstDash val="solid"/>
          </a:ln>
        </p:spPr>
      </p:sp>
      <p:sp>
        <p:nvSpPr>
          <p:cNvPr id="7" name="Text 5"/>
          <p:cNvSpPr/>
          <p:nvPr/>
        </p:nvSpPr>
        <p:spPr>
          <a:xfrm>
            <a:off x="2496312" y="868680"/>
            <a:ext cx="2011680" cy="329184"/>
          </a:xfrm>
          <a:prstGeom prst="rect">
            <a:avLst/>
          </a:prstGeom>
          <a:noFill/>
          <a:ln/>
        </p:spPr>
        <p:txBody>
          <a:bodyPr wrap="square" rtlCol="0" anchor="ctr"/>
          <a:lstStyle/>
          <a:p>
            <a:pPr algn="ctr" indent="0" marL="0">
              <a:buNone/>
            </a:pPr>
            <a:r>
              <a:rPr lang="en-US" sz="1100" b="1" dirty="0">
                <a:solidFill>
                  <a:srgbClr val="1B2A6B"/>
                </a:solidFill>
                <a:latin typeface="Calibri" pitchFamily="34" charset="0"/>
                <a:ea typeface="Calibri" pitchFamily="34" charset="-122"/>
                <a:cs typeface="Calibri" pitchFamily="34" charset="-120"/>
              </a:rPr>
              <a:t>React Native 0.81</a:t>
            </a:r>
            <a:endParaRPr lang="en-US" sz="1100" dirty="0"/>
          </a:p>
        </p:txBody>
      </p:sp>
      <p:sp>
        <p:nvSpPr>
          <p:cNvPr id="8" name="Shape 6"/>
          <p:cNvSpPr/>
          <p:nvPr/>
        </p:nvSpPr>
        <p:spPr>
          <a:xfrm>
            <a:off x="4626864" y="868680"/>
            <a:ext cx="2011680" cy="329184"/>
          </a:xfrm>
          <a:prstGeom prst="rect">
            <a:avLst/>
          </a:prstGeom>
          <a:solidFill>
            <a:srgbClr val="EEF2FF"/>
          </a:solidFill>
          <a:ln w="12700">
            <a:solidFill>
              <a:srgbClr val="EEF2FF"/>
            </a:solidFill>
            <a:prstDash val="solid"/>
          </a:ln>
        </p:spPr>
      </p:sp>
      <p:sp>
        <p:nvSpPr>
          <p:cNvPr id="9" name="Text 7"/>
          <p:cNvSpPr/>
          <p:nvPr/>
        </p:nvSpPr>
        <p:spPr>
          <a:xfrm>
            <a:off x="4626864" y="868680"/>
            <a:ext cx="2011680" cy="329184"/>
          </a:xfrm>
          <a:prstGeom prst="rect">
            <a:avLst/>
          </a:prstGeom>
          <a:noFill/>
          <a:ln/>
        </p:spPr>
        <p:txBody>
          <a:bodyPr wrap="square" rtlCol="0" anchor="ctr"/>
          <a:lstStyle/>
          <a:p>
            <a:pPr algn="ctr" indent="0" marL="0">
              <a:buNone/>
            </a:pPr>
            <a:r>
              <a:rPr lang="en-US" sz="1100" b="1" dirty="0">
                <a:solidFill>
                  <a:srgbClr val="1B2A6B"/>
                </a:solidFill>
                <a:latin typeface="Calibri" pitchFamily="34" charset="0"/>
                <a:ea typeface="Calibri" pitchFamily="34" charset="-122"/>
                <a:cs typeface="Calibri" pitchFamily="34" charset="-120"/>
              </a:rPr>
              <a:t>TypeScript</a:t>
            </a:r>
            <a:endParaRPr lang="en-US" sz="1100" dirty="0"/>
          </a:p>
        </p:txBody>
      </p:sp>
      <p:sp>
        <p:nvSpPr>
          <p:cNvPr id="10" name="Shape 8"/>
          <p:cNvSpPr/>
          <p:nvPr/>
        </p:nvSpPr>
        <p:spPr>
          <a:xfrm>
            <a:off x="6757416" y="868680"/>
            <a:ext cx="2011680" cy="329184"/>
          </a:xfrm>
          <a:prstGeom prst="rect">
            <a:avLst/>
          </a:prstGeom>
          <a:solidFill>
            <a:srgbClr val="EEF2FF"/>
          </a:solidFill>
          <a:ln w="12700">
            <a:solidFill>
              <a:srgbClr val="EEF2FF"/>
            </a:solidFill>
            <a:prstDash val="solid"/>
          </a:ln>
        </p:spPr>
      </p:sp>
      <p:sp>
        <p:nvSpPr>
          <p:cNvPr id="11" name="Text 9"/>
          <p:cNvSpPr/>
          <p:nvPr/>
        </p:nvSpPr>
        <p:spPr>
          <a:xfrm>
            <a:off x="6757416" y="868680"/>
            <a:ext cx="2011680" cy="329184"/>
          </a:xfrm>
          <a:prstGeom prst="rect">
            <a:avLst/>
          </a:prstGeom>
          <a:noFill/>
          <a:ln/>
        </p:spPr>
        <p:txBody>
          <a:bodyPr wrap="square" rtlCol="0" anchor="ctr"/>
          <a:lstStyle/>
          <a:p>
            <a:pPr algn="ctr" indent="0" marL="0">
              <a:buNone/>
            </a:pPr>
            <a:r>
              <a:rPr lang="en-US" sz="1100" b="1" dirty="0">
                <a:solidFill>
                  <a:srgbClr val="1B2A6B"/>
                </a:solidFill>
                <a:latin typeface="Calibri" pitchFamily="34" charset="0"/>
                <a:ea typeface="Calibri" pitchFamily="34" charset="-122"/>
                <a:cs typeface="Calibri" pitchFamily="34" charset="-120"/>
              </a:rPr>
              <a:t>Expo Router 6</a:t>
            </a:r>
            <a:endParaRPr lang="en-US" sz="1100" dirty="0"/>
          </a:p>
        </p:txBody>
      </p:sp>
      <p:sp>
        <p:nvSpPr>
          <p:cNvPr id="12" name="Shape 10"/>
          <p:cNvSpPr/>
          <p:nvPr/>
        </p:nvSpPr>
        <p:spPr>
          <a:xfrm>
            <a:off x="274320" y="1298448"/>
            <a:ext cx="4114800" cy="361188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3" name="Shape 11"/>
          <p:cNvSpPr/>
          <p:nvPr/>
        </p:nvSpPr>
        <p:spPr>
          <a:xfrm>
            <a:off x="274320" y="1298448"/>
            <a:ext cx="4114800" cy="457200"/>
          </a:xfrm>
          <a:prstGeom prst="rect">
            <a:avLst/>
          </a:prstGeom>
          <a:solidFill>
            <a:srgbClr val="2E4DA3"/>
          </a:solidFill>
          <a:ln w="12700">
            <a:solidFill>
              <a:srgbClr val="2E4DA3"/>
            </a:solidFill>
            <a:prstDash val="solid"/>
          </a:ln>
        </p:spPr>
      </p:sp>
      <p:sp>
        <p:nvSpPr>
          <p:cNvPr id="14" name="Text 12"/>
          <p:cNvSpPr/>
          <p:nvPr/>
        </p:nvSpPr>
        <p:spPr>
          <a:xfrm>
            <a:off x="438912" y="1307592"/>
            <a:ext cx="3794760" cy="44805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Navigation — 5 onglets</a:t>
            </a:r>
            <a:endParaRPr lang="en-US" sz="1400" dirty="0"/>
          </a:p>
        </p:txBody>
      </p:sp>
      <p:sp>
        <p:nvSpPr>
          <p:cNvPr id="15" name="Shape 13"/>
          <p:cNvSpPr/>
          <p:nvPr/>
        </p:nvSpPr>
        <p:spPr>
          <a:xfrm>
            <a:off x="438912" y="1874520"/>
            <a:ext cx="347472" cy="347472"/>
          </a:xfrm>
          <a:prstGeom prst="ellipse">
            <a:avLst/>
          </a:prstGeom>
          <a:solidFill>
            <a:srgbClr val="F5A623"/>
          </a:solidFill>
          <a:ln w="12700">
            <a:solidFill>
              <a:srgbClr val="F5A623"/>
            </a:solidFill>
            <a:prstDash val="solid"/>
          </a:ln>
        </p:spPr>
      </p:sp>
      <p:sp>
        <p:nvSpPr>
          <p:cNvPr id="16" name="Text 14"/>
          <p:cNvSpPr/>
          <p:nvPr/>
        </p:nvSpPr>
        <p:spPr>
          <a:xfrm>
            <a:off x="438912" y="1874520"/>
            <a:ext cx="347472" cy="347472"/>
          </a:xfrm>
          <a:prstGeom prst="rect">
            <a:avLst/>
          </a:prstGeom>
          <a:noFill/>
          <a:ln/>
        </p:spPr>
        <p:txBody>
          <a:bodyPr wrap="square" lIns="0" tIns="0" rIns="0" bIns="0" rtlCol="0" anchor="ctr"/>
          <a:lstStyle/>
          <a:p>
            <a:pPr algn="ctr" indent="0" marL="0">
              <a:buNone/>
            </a:pPr>
            <a:r>
              <a:rPr lang="en-US" sz="836" b="1" dirty="0">
                <a:solidFill>
                  <a:srgbClr val="1B2A6B"/>
                </a:solidFill>
              </a:rPr>
              <a:t>1</a:t>
            </a:r>
            <a:endParaRPr lang="en-US" sz="836" dirty="0"/>
          </a:p>
        </p:txBody>
      </p:sp>
      <p:sp>
        <p:nvSpPr>
          <p:cNvPr id="17" name="Text 15"/>
          <p:cNvSpPr/>
          <p:nvPr/>
        </p:nvSpPr>
        <p:spPr>
          <a:xfrm>
            <a:off x="932688" y="1874520"/>
            <a:ext cx="3310128" cy="384048"/>
          </a:xfrm>
          <a:prstGeom prst="rect">
            <a:avLst/>
          </a:prstGeom>
          <a:noFill/>
          <a:ln/>
        </p:spPr>
        <p:txBody>
          <a:bodyPr wrap="square" rtlCol="0" anchor="ctr"/>
          <a:lstStyle/>
          <a:p>
            <a:pPr algn="l" indent="0" marL="0">
              <a:buNone/>
            </a:pPr>
            <a:r>
              <a:rPr lang="en-US" sz="1200" b="1" dirty="0">
                <a:solidFill>
                  <a:srgbClr val="1B2A6B"/>
                </a:solidFill>
                <a:latin typeface="Calibri" pitchFamily="34" charset="0"/>
                <a:ea typeface="Calibri" pitchFamily="34" charset="-122"/>
                <a:cs typeface="Calibri" pitchFamily="34" charset="-120"/>
              </a:rPr>
              <a:t>Home </a:t>
            </a:r>
            <a:pPr algn="l" indent="0" marL="0">
              <a:buNone/>
            </a:pPr>
            <a:r>
              <a:rPr lang="en-US" sz="1150" dirty="0">
                <a:solidFill>
                  <a:srgbClr val="4B5563"/>
                </a:solidFill>
                <a:latin typeface="Calibri" pitchFamily="34" charset="0"/>
                <a:ea typeface="Calibri" pitchFamily="34" charset="-122"/>
                <a:cs typeface="Calibri" pitchFamily="34" charset="-120"/>
              </a:rPr>
              <a:t>— Dashboard : stats, matières, flashcards dues</a:t>
            </a:r>
            <a:endParaRPr lang="en-US" sz="1200" dirty="0"/>
          </a:p>
        </p:txBody>
      </p:sp>
      <p:sp>
        <p:nvSpPr>
          <p:cNvPr id="18" name="Shape 16"/>
          <p:cNvSpPr/>
          <p:nvPr/>
        </p:nvSpPr>
        <p:spPr>
          <a:xfrm>
            <a:off x="438912" y="2368296"/>
            <a:ext cx="347472" cy="347472"/>
          </a:xfrm>
          <a:prstGeom prst="ellipse">
            <a:avLst/>
          </a:prstGeom>
          <a:solidFill>
            <a:srgbClr val="F5A623"/>
          </a:solidFill>
          <a:ln w="12700">
            <a:solidFill>
              <a:srgbClr val="F5A623"/>
            </a:solidFill>
            <a:prstDash val="solid"/>
          </a:ln>
        </p:spPr>
      </p:sp>
      <p:sp>
        <p:nvSpPr>
          <p:cNvPr id="19" name="Text 17"/>
          <p:cNvSpPr/>
          <p:nvPr/>
        </p:nvSpPr>
        <p:spPr>
          <a:xfrm>
            <a:off x="438912" y="2368296"/>
            <a:ext cx="347472" cy="347472"/>
          </a:xfrm>
          <a:prstGeom prst="rect">
            <a:avLst/>
          </a:prstGeom>
          <a:noFill/>
          <a:ln/>
        </p:spPr>
        <p:txBody>
          <a:bodyPr wrap="square" lIns="0" tIns="0" rIns="0" bIns="0" rtlCol="0" anchor="ctr"/>
          <a:lstStyle/>
          <a:p>
            <a:pPr algn="ctr" indent="0" marL="0">
              <a:buNone/>
            </a:pPr>
            <a:r>
              <a:rPr lang="en-US" sz="836" b="1" dirty="0">
                <a:solidFill>
                  <a:srgbClr val="1B2A6B"/>
                </a:solidFill>
              </a:rPr>
              <a:t>2</a:t>
            </a:r>
            <a:endParaRPr lang="en-US" sz="836" dirty="0"/>
          </a:p>
        </p:txBody>
      </p:sp>
      <p:sp>
        <p:nvSpPr>
          <p:cNvPr id="20" name="Text 18"/>
          <p:cNvSpPr/>
          <p:nvPr/>
        </p:nvSpPr>
        <p:spPr>
          <a:xfrm>
            <a:off x="932688" y="2368296"/>
            <a:ext cx="3310128" cy="384048"/>
          </a:xfrm>
          <a:prstGeom prst="rect">
            <a:avLst/>
          </a:prstGeom>
          <a:noFill/>
          <a:ln/>
        </p:spPr>
        <p:txBody>
          <a:bodyPr wrap="square" rtlCol="0" anchor="ctr"/>
          <a:lstStyle/>
          <a:p>
            <a:pPr algn="l" indent="0" marL="0">
              <a:buNone/>
            </a:pPr>
            <a:r>
              <a:rPr lang="en-US" sz="1200" b="1" dirty="0">
                <a:solidFill>
                  <a:srgbClr val="1B2A6B"/>
                </a:solidFill>
                <a:latin typeface="Calibri" pitchFamily="34" charset="0"/>
                <a:ea typeface="Calibri" pitchFamily="34" charset="-122"/>
                <a:cs typeface="Calibri" pitchFamily="34" charset="-120"/>
              </a:rPr>
              <a:t>Notes </a:t>
            </a:r>
            <a:pPr algn="l" indent="0" marL="0">
              <a:buNone/>
            </a:pPr>
            <a:r>
              <a:rPr lang="en-US" sz="1150" dirty="0">
                <a:solidFill>
                  <a:srgbClr val="4B5563"/>
                </a:solidFill>
                <a:latin typeface="Calibri" pitchFamily="34" charset="0"/>
                <a:ea typeface="Calibri" pitchFamily="34" charset="-122"/>
                <a:cs typeface="Calibri" pitchFamily="34" charset="-120"/>
              </a:rPr>
              <a:t>— Liste des notes + recherche plein texte</a:t>
            </a:r>
            <a:endParaRPr lang="en-US" sz="1200" dirty="0"/>
          </a:p>
        </p:txBody>
      </p:sp>
      <p:sp>
        <p:nvSpPr>
          <p:cNvPr id="21" name="Shape 19"/>
          <p:cNvSpPr/>
          <p:nvPr/>
        </p:nvSpPr>
        <p:spPr>
          <a:xfrm>
            <a:off x="438912" y="2862072"/>
            <a:ext cx="347472" cy="347472"/>
          </a:xfrm>
          <a:prstGeom prst="ellipse">
            <a:avLst/>
          </a:prstGeom>
          <a:solidFill>
            <a:srgbClr val="F5A623"/>
          </a:solidFill>
          <a:ln w="12700">
            <a:solidFill>
              <a:srgbClr val="F5A623"/>
            </a:solidFill>
            <a:prstDash val="solid"/>
          </a:ln>
        </p:spPr>
      </p:sp>
      <p:sp>
        <p:nvSpPr>
          <p:cNvPr id="22" name="Text 20"/>
          <p:cNvSpPr/>
          <p:nvPr/>
        </p:nvSpPr>
        <p:spPr>
          <a:xfrm>
            <a:off x="438912" y="2862072"/>
            <a:ext cx="347472" cy="347472"/>
          </a:xfrm>
          <a:prstGeom prst="rect">
            <a:avLst/>
          </a:prstGeom>
          <a:noFill/>
          <a:ln/>
        </p:spPr>
        <p:txBody>
          <a:bodyPr wrap="square" lIns="0" tIns="0" rIns="0" bIns="0" rtlCol="0" anchor="ctr"/>
          <a:lstStyle/>
          <a:p>
            <a:pPr algn="ctr" indent="0" marL="0">
              <a:buNone/>
            </a:pPr>
            <a:r>
              <a:rPr lang="en-US" sz="836" b="1" dirty="0">
                <a:solidFill>
                  <a:srgbClr val="1B2A6B"/>
                </a:solidFill>
              </a:rPr>
              <a:t>3</a:t>
            </a:r>
            <a:endParaRPr lang="en-US" sz="836" dirty="0"/>
          </a:p>
        </p:txBody>
      </p:sp>
      <p:sp>
        <p:nvSpPr>
          <p:cNvPr id="23" name="Text 21"/>
          <p:cNvSpPr/>
          <p:nvPr/>
        </p:nvSpPr>
        <p:spPr>
          <a:xfrm>
            <a:off x="932688" y="2862072"/>
            <a:ext cx="3310128" cy="384048"/>
          </a:xfrm>
          <a:prstGeom prst="rect">
            <a:avLst/>
          </a:prstGeom>
          <a:noFill/>
          <a:ln/>
        </p:spPr>
        <p:txBody>
          <a:bodyPr wrap="square" rtlCol="0" anchor="ctr"/>
          <a:lstStyle/>
          <a:p>
            <a:pPr algn="l" indent="0" marL="0">
              <a:buNone/>
            </a:pPr>
            <a:r>
              <a:rPr lang="en-US" sz="1200" b="1" dirty="0">
                <a:solidFill>
                  <a:srgbClr val="1B2A6B"/>
                </a:solidFill>
                <a:latin typeface="Calibri" pitchFamily="34" charset="0"/>
                <a:ea typeface="Calibri" pitchFamily="34" charset="-122"/>
                <a:cs typeface="Calibri" pitchFamily="34" charset="-120"/>
              </a:rPr>
              <a:t>Capture (FAB) </a:t>
            </a:r>
            <a:pPr algn="l" indent="0" marL="0">
              <a:buNone/>
            </a:pPr>
            <a:r>
              <a:rPr lang="en-US" sz="1150" dirty="0">
                <a:solidFill>
                  <a:srgbClr val="4B5563"/>
                </a:solidFill>
                <a:latin typeface="Calibri" pitchFamily="34" charset="0"/>
                <a:ea typeface="Calibri" pitchFamily="34" charset="-122"/>
                <a:cs typeface="Calibri" pitchFamily="34" charset="-120"/>
              </a:rPr>
              <a:t>— Bouton central — point d'entree photo</a:t>
            </a:r>
            <a:endParaRPr lang="en-US" sz="1200" dirty="0"/>
          </a:p>
        </p:txBody>
      </p:sp>
      <p:sp>
        <p:nvSpPr>
          <p:cNvPr id="24" name="Shape 22"/>
          <p:cNvSpPr/>
          <p:nvPr/>
        </p:nvSpPr>
        <p:spPr>
          <a:xfrm>
            <a:off x="438912" y="3355848"/>
            <a:ext cx="347472" cy="347472"/>
          </a:xfrm>
          <a:prstGeom prst="ellipse">
            <a:avLst/>
          </a:prstGeom>
          <a:solidFill>
            <a:srgbClr val="F5A623"/>
          </a:solidFill>
          <a:ln w="12700">
            <a:solidFill>
              <a:srgbClr val="F5A623"/>
            </a:solidFill>
            <a:prstDash val="solid"/>
          </a:ln>
        </p:spPr>
      </p:sp>
      <p:sp>
        <p:nvSpPr>
          <p:cNvPr id="25" name="Text 23"/>
          <p:cNvSpPr/>
          <p:nvPr/>
        </p:nvSpPr>
        <p:spPr>
          <a:xfrm>
            <a:off x="438912" y="3355848"/>
            <a:ext cx="347472" cy="347472"/>
          </a:xfrm>
          <a:prstGeom prst="rect">
            <a:avLst/>
          </a:prstGeom>
          <a:noFill/>
          <a:ln/>
        </p:spPr>
        <p:txBody>
          <a:bodyPr wrap="square" lIns="0" tIns="0" rIns="0" bIns="0" rtlCol="0" anchor="ctr"/>
          <a:lstStyle/>
          <a:p>
            <a:pPr algn="ctr" indent="0" marL="0">
              <a:buNone/>
            </a:pPr>
            <a:r>
              <a:rPr lang="en-US" sz="836" b="1" dirty="0">
                <a:solidFill>
                  <a:srgbClr val="1B2A6B"/>
                </a:solidFill>
              </a:rPr>
              <a:t>4</a:t>
            </a:r>
            <a:endParaRPr lang="en-US" sz="836" dirty="0"/>
          </a:p>
        </p:txBody>
      </p:sp>
      <p:sp>
        <p:nvSpPr>
          <p:cNvPr id="26" name="Text 24"/>
          <p:cNvSpPr/>
          <p:nvPr/>
        </p:nvSpPr>
        <p:spPr>
          <a:xfrm>
            <a:off x="932688" y="3355848"/>
            <a:ext cx="3310128" cy="384048"/>
          </a:xfrm>
          <a:prstGeom prst="rect">
            <a:avLst/>
          </a:prstGeom>
          <a:noFill/>
          <a:ln/>
        </p:spPr>
        <p:txBody>
          <a:bodyPr wrap="square" rtlCol="0" anchor="ctr"/>
          <a:lstStyle/>
          <a:p>
            <a:pPr algn="l" indent="0" marL="0">
              <a:buNone/>
            </a:pPr>
            <a:r>
              <a:rPr lang="en-US" sz="1200" b="1" dirty="0">
                <a:solidFill>
                  <a:srgbClr val="1B2A6B"/>
                </a:solidFill>
                <a:latin typeface="Calibri" pitchFamily="34" charset="0"/>
                <a:ea typeface="Calibri" pitchFamily="34" charset="-122"/>
                <a:cs typeface="Calibri" pitchFamily="34" charset="-120"/>
              </a:rPr>
              <a:t>Study </a:t>
            </a:r>
            <a:pPr algn="l" indent="0" marL="0">
              <a:buNone/>
            </a:pPr>
            <a:r>
              <a:rPr lang="en-US" sz="1150" dirty="0">
                <a:solidFill>
                  <a:srgbClr val="4B5563"/>
                </a:solidFill>
                <a:latin typeface="Calibri" pitchFamily="34" charset="0"/>
                <a:ea typeface="Calibri" pitchFamily="34" charset="-122"/>
                <a:cs typeface="Calibri" pitchFamily="34" charset="-120"/>
              </a:rPr>
              <a:t>— Session flashcards flip SM-2 + QCM</a:t>
            </a:r>
            <a:endParaRPr lang="en-US" sz="1200" dirty="0"/>
          </a:p>
        </p:txBody>
      </p:sp>
      <p:sp>
        <p:nvSpPr>
          <p:cNvPr id="27" name="Shape 25"/>
          <p:cNvSpPr/>
          <p:nvPr/>
        </p:nvSpPr>
        <p:spPr>
          <a:xfrm>
            <a:off x="438912" y="3849624"/>
            <a:ext cx="347472" cy="347472"/>
          </a:xfrm>
          <a:prstGeom prst="ellipse">
            <a:avLst/>
          </a:prstGeom>
          <a:solidFill>
            <a:srgbClr val="F5A623"/>
          </a:solidFill>
          <a:ln w="12700">
            <a:solidFill>
              <a:srgbClr val="F5A623"/>
            </a:solidFill>
            <a:prstDash val="solid"/>
          </a:ln>
        </p:spPr>
      </p:sp>
      <p:sp>
        <p:nvSpPr>
          <p:cNvPr id="28" name="Text 26"/>
          <p:cNvSpPr/>
          <p:nvPr/>
        </p:nvSpPr>
        <p:spPr>
          <a:xfrm>
            <a:off x="438912" y="3849624"/>
            <a:ext cx="347472" cy="347472"/>
          </a:xfrm>
          <a:prstGeom prst="rect">
            <a:avLst/>
          </a:prstGeom>
          <a:noFill/>
          <a:ln/>
        </p:spPr>
        <p:txBody>
          <a:bodyPr wrap="square" lIns="0" tIns="0" rIns="0" bIns="0" rtlCol="0" anchor="ctr"/>
          <a:lstStyle/>
          <a:p>
            <a:pPr algn="ctr" indent="0" marL="0">
              <a:buNone/>
            </a:pPr>
            <a:r>
              <a:rPr lang="en-US" sz="836" b="1" dirty="0">
                <a:solidFill>
                  <a:srgbClr val="1B2A6B"/>
                </a:solidFill>
              </a:rPr>
              <a:t>5</a:t>
            </a:r>
            <a:endParaRPr lang="en-US" sz="836" dirty="0"/>
          </a:p>
        </p:txBody>
      </p:sp>
      <p:sp>
        <p:nvSpPr>
          <p:cNvPr id="29" name="Text 27"/>
          <p:cNvSpPr/>
          <p:nvPr/>
        </p:nvSpPr>
        <p:spPr>
          <a:xfrm>
            <a:off x="932688" y="3849624"/>
            <a:ext cx="3310128" cy="384048"/>
          </a:xfrm>
          <a:prstGeom prst="rect">
            <a:avLst/>
          </a:prstGeom>
          <a:noFill/>
          <a:ln/>
        </p:spPr>
        <p:txBody>
          <a:bodyPr wrap="square" rtlCol="0" anchor="ctr"/>
          <a:lstStyle/>
          <a:p>
            <a:pPr algn="l" indent="0" marL="0">
              <a:buNone/>
            </a:pPr>
            <a:r>
              <a:rPr lang="en-US" sz="1200" b="1" dirty="0">
                <a:solidFill>
                  <a:srgbClr val="1B2A6B"/>
                </a:solidFill>
                <a:latin typeface="Calibri" pitchFamily="34" charset="0"/>
                <a:ea typeface="Calibri" pitchFamily="34" charset="-122"/>
                <a:cs typeface="Calibri" pitchFamily="34" charset="-120"/>
              </a:rPr>
              <a:t>Profile </a:t>
            </a:r>
            <a:pPr algn="l" indent="0" marL="0">
              <a:buNone/>
            </a:pPr>
            <a:r>
              <a:rPr lang="en-US" sz="1150" dirty="0">
                <a:solidFill>
                  <a:srgbClr val="4B5563"/>
                </a:solidFill>
                <a:latin typeface="Calibri" pitchFamily="34" charset="0"/>
                <a:ea typeface="Calibri" pitchFamily="34" charset="-122"/>
                <a:cs typeface="Calibri" pitchFamily="34" charset="-120"/>
              </a:rPr>
              <a:t>— Parametres utilisateur, langue, theme</a:t>
            </a:r>
            <a:endParaRPr lang="en-US" sz="1200" dirty="0"/>
          </a:p>
        </p:txBody>
      </p:sp>
      <p:sp>
        <p:nvSpPr>
          <p:cNvPr id="30" name="Shape 28"/>
          <p:cNvSpPr/>
          <p:nvPr/>
        </p:nvSpPr>
        <p:spPr>
          <a:xfrm>
            <a:off x="4754880" y="1298448"/>
            <a:ext cx="4114800" cy="361188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31" name="Shape 29"/>
          <p:cNvSpPr/>
          <p:nvPr/>
        </p:nvSpPr>
        <p:spPr>
          <a:xfrm>
            <a:off x="4754880" y="1298448"/>
            <a:ext cx="4114800" cy="457200"/>
          </a:xfrm>
          <a:prstGeom prst="rect">
            <a:avLst/>
          </a:prstGeom>
          <a:solidFill>
            <a:srgbClr val="0D9488"/>
          </a:solidFill>
          <a:ln w="12700">
            <a:solidFill>
              <a:srgbClr val="0D9488"/>
            </a:solidFill>
            <a:prstDash val="solid"/>
          </a:ln>
        </p:spPr>
      </p:sp>
      <p:sp>
        <p:nvSpPr>
          <p:cNvPr id="32" name="Text 30"/>
          <p:cNvSpPr/>
          <p:nvPr/>
        </p:nvSpPr>
        <p:spPr>
          <a:xfrm>
            <a:off x="4919472" y="1307592"/>
            <a:ext cx="3794760" cy="448056"/>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Ecrans &amp; Architecture</a:t>
            </a:r>
            <a:endParaRPr lang="en-US" sz="1400" dirty="0"/>
          </a:p>
        </p:txBody>
      </p:sp>
      <p:sp>
        <p:nvSpPr>
          <p:cNvPr id="33" name="Text 31"/>
          <p:cNvSpPr/>
          <p:nvPr/>
        </p:nvSpPr>
        <p:spPr>
          <a:xfrm>
            <a:off x="4919472" y="1874520"/>
            <a:ext cx="3794760" cy="301752"/>
          </a:xfrm>
          <a:prstGeom prst="rect">
            <a:avLst/>
          </a:prstGeom>
          <a:noFill/>
          <a:ln/>
        </p:spPr>
        <p:txBody>
          <a:bodyPr wrap="square" rtlCol="0" anchor="ctr"/>
          <a:lstStyle/>
          <a:p>
            <a:pPr indent="0" marL="0">
              <a:buNone/>
            </a:pPr>
            <a:r>
              <a:rPr lang="en-US" sz="1300" b="1" dirty="0">
                <a:solidFill>
                  <a:srgbClr val="1B2A6B"/>
                </a:solidFill>
                <a:latin typeface="Calibri" pitchFamily="34" charset="0"/>
                <a:ea typeface="Calibri" pitchFamily="34" charset="-122"/>
                <a:cs typeface="Calibri" pitchFamily="34" charset="-120"/>
              </a:rPr>
              <a:t>Ecrans principaux :</a:t>
            </a:r>
            <a:endParaRPr lang="en-US" sz="1300" dirty="0"/>
          </a:p>
        </p:txBody>
      </p:sp>
      <p:sp>
        <p:nvSpPr>
          <p:cNvPr id="34" name="Shape 32"/>
          <p:cNvSpPr/>
          <p:nvPr/>
        </p:nvSpPr>
        <p:spPr>
          <a:xfrm>
            <a:off x="4892040" y="2240280"/>
            <a:ext cx="3858768" cy="493776"/>
          </a:xfrm>
          <a:prstGeom prst="rect">
            <a:avLst/>
          </a:prstGeom>
          <a:solidFill>
            <a:srgbClr val="EEF2FF"/>
          </a:solidFill>
          <a:ln w="12700">
            <a:solidFill>
              <a:srgbClr val="C7D2F0"/>
            </a:solidFill>
            <a:prstDash val="solid"/>
          </a:ln>
        </p:spPr>
      </p:sp>
      <p:sp>
        <p:nvSpPr>
          <p:cNvPr id="35" name="Text 33"/>
          <p:cNvSpPr/>
          <p:nvPr/>
        </p:nvSpPr>
        <p:spPr>
          <a:xfrm>
            <a:off x="5029200" y="2240280"/>
            <a:ext cx="3611880" cy="493776"/>
          </a:xfrm>
          <a:prstGeom prst="rect">
            <a:avLst/>
          </a:prstGeom>
          <a:noFill/>
          <a:ln/>
        </p:spPr>
        <p:txBody>
          <a:bodyPr wrap="square" rtlCol="0" anchor="ctr"/>
          <a:lstStyle/>
          <a:p>
            <a:pPr algn="l" indent="0" marL="0">
              <a:buNone/>
            </a:pPr>
            <a:r>
              <a:rPr lang="en-US" sz="1150" b="1" dirty="0">
                <a:solidFill>
                  <a:srgbClr val="1B2A6B"/>
                </a:solidFill>
                <a:latin typeface="Consolas" pitchFamily="34" charset="0"/>
                <a:ea typeface="Consolas" pitchFamily="34" charset="-122"/>
                <a:cs typeface="Consolas" pitchFamily="34" charset="-120"/>
              </a:rPr>
              <a:t>capture.tsx  </a:t>
            </a:r>
            <a:pPr algn="l" indent="0" marL="0">
              <a:buNone/>
            </a:pPr>
            <a:r>
              <a:rPr lang="en-US" sz="1100" dirty="0">
                <a:solidFill>
                  <a:srgbClr val="4B5563"/>
                </a:solidFill>
                <a:latin typeface="Calibri" pitchFamily="34" charset="0"/>
                <a:ea typeface="Calibri" pitchFamily="34" charset="-122"/>
                <a:cs typeface="Calibri" pitchFamily="34" charset="-120"/>
              </a:rPr>
              <a:t>idle → ocr → review → done</a:t>
            </a:r>
            <a:endParaRPr lang="en-US" sz="1150" dirty="0"/>
          </a:p>
        </p:txBody>
      </p:sp>
      <p:sp>
        <p:nvSpPr>
          <p:cNvPr id="36" name="Shape 34"/>
          <p:cNvSpPr/>
          <p:nvPr/>
        </p:nvSpPr>
        <p:spPr>
          <a:xfrm>
            <a:off x="4892040" y="2807208"/>
            <a:ext cx="3858768" cy="493776"/>
          </a:xfrm>
          <a:prstGeom prst="rect">
            <a:avLst/>
          </a:prstGeom>
          <a:solidFill>
            <a:srgbClr val="EEF2FF"/>
          </a:solidFill>
          <a:ln w="12700">
            <a:solidFill>
              <a:srgbClr val="C7D2F0"/>
            </a:solidFill>
            <a:prstDash val="solid"/>
          </a:ln>
        </p:spPr>
      </p:sp>
      <p:sp>
        <p:nvSpPr>
          <p:cNvPr id="37" name="Text 35"/>
          <p:cNvSpPr/>
          <p:nvPr/>
        </p:nvSpPr>
        <p:spPr>
          <a:xfrm>
            <a:off x="5029200" y="2807208"/>
            <a:ext cx="3611880" cy="493776"/>
          </a:xfrm>
          <a:prstGeom prst="rect">
            <a:avLst/>
          </a:prstGeom>
          <a:noFill/>
          <a:ln/>
        </p:spPr>
        <p:txBody>
          <a:bodyPr wrap="square" rtlCol="0" anchor="ctr"/>
          <a:lstStyle/>
          <a:p>
            <a:pPr algn="l" indent="0" marL="0">
              <a:buNone/>
            </a:pPr>
            <a:r>
              <a:rPr lang="en-US" sz="1150" b="1" dirty="0">
                <a:solidFill>
                  <a:srgbClr val="1B2A6B"/>
                </a:solidFill>
                <a:latin typeface="Consolas" pitchFamily="34" charset="0"/>
                <a:ea typeface="Consolas" pitchFamily="34" charset="-122"/>
                <a:cs typeface="Consolas" pitchFamily="34" charset="-120"/>
              </a:rPr>
              <a:t>session-new.tsx  </a:t>
            </a:r>
            <a:pPr algn="l" indent="0" marL="0">
              <a:buNone/>
            </a:pPr>
            <a:r>
              <a:rPr lang="en-US" sz="1100" dirty="0">
                <a:solidFill>
                  <a:srgbClr val="4B5563"/>
                </a:solidFill>
                <a:latin typeface="Calibri" pitchFamily="34" charset="0"/>
                <a:ea typeface="Calibri" pitchFamily="34" charset="-122"/>
                <a:cs typeface="Calibri" pitchFamily="34" charset="-120"/>
              </a:rPr>
              <a:t>idle → capturing → finalizing → done</a:t>
            </a:r>
            <a:endParaRPr lang="en-US" sz="1150" dirty="0"/>
          </a:p>
        </p:txBody>
      </p:sp>
      <p:sp>
        <p:nvSpPr>
          <p:cNvPr id="38" name="Shape 36"/>
          <p:cNvSpPr/>
          <p:nvPr/>
        </p:nvSpPr>
        <p:spPr>
          <a:xfrm>
            <a:off x="4892040" y="3374136"/>
            <a:ext cx="3858768" cy="493776"/>
          </a:xfrm>
          <a:prstGeom prst="rect">
            <a:avLst/>
          </a:prstGeom>
          <a:solidFill>
            <a:srgbClr val="EEF2FF"/>
          </a:solidFill>
          <a:ln w="12700">
            <a:solidFill>
              <a:srgbClr val="C7D2F0"/>
            </a:solidFill>
            <a:prstDash val="solid"/>
          </a:ln>
        </p:spPr>
      </p:sp>
      <p:sp>
        <p:nvSpPr>
          <p:cNvPr id="39" name="Text 37"/>
          <p:cNvSpPr/>
          <p:nvPr/>
        </p:nvSpPr>
        <p:spPr>
          <a:xfrm>
            <a:off x="5029200" y="3374136"/>
            <a:ext cx="3611880" cy="493776"/>
          </a:xfrm>
          <a:prstGeom prst="rect">
            <a:avLst/>
          </a:prstGeom>
          <a:noFill/>
          <a:ln/>
        </p:spPr>
        <p:txBody>
          <a:bodyPr wrap="square" rtlCol="0" anchor="ctr"/>
          <a:lstStyle/>
          <a:p>
            <a:pPr algn="l" indent="0" marL="0">
              <a:buNone/>
            </a:pPr>
            <a:r>
              <a:rPr lang="en-US" sz="1150" b="1" dirty="0">
                <a:solidFill>
                  <a:srgbClr val="1B2A6B"/>
                </a:solidFill>
                <a:latin typeface="Consolas" pitchFamily="34" charset="0"/>
                <a:ea typeface="Consolas" pitchFamily="34" charset="-122"/>
                <a:cs typeface="Consolas" pitchFamily="34" charset="-120"/>
              </a:rPr>
              <a:t>note-detail.tsx  </a:t>
            </a:r>
            <a:pPr algn="l" indent="0" marL="0">
              <a:buNone/>
            </a:pPr>
            <a:r>
              <a:rPr lang="en-US" sz="1100" dirty="0">
                <a:solidFill>
                  <a:srgbClr val="4B5563"/>
                </a:solidFill>
                <a:latin typeface="Calibri" pitchFamily="34" charset="0"/>
                <a:ea typeface="Calibri" pitchFamily="34" charset="-122"/>
                <a:cs typeface="Calibri" pitchFamily="34" charset="-120"/>
              </a:rPr>
              <a:t>3 onglets : Resume / Contenu / Etudier</a:t>
            </a:r>
            <a:endParaRPr lang="en-US" sz="1150" dirty="0"/>
          </a:p>
        </p:txBody>
      </p:sp>
      <p:sp>
        <p:nvSpPr>
          <p:cNvPr id="40" name="Text 38"/>
          <p:cNvSpPr/>
          <p:nvPr/>
        </p:nvSpPr>
        <p:spPr>
          <a:xfrm>
            <a:off x="4919472" y="4005072"/>
            <a:ext cx="3794760" cy="301752"/>
          </a:xfrm>
          <a:prstGeom prst="rect">
            <a:avLst/>
          </a:prstGeom>
          <a:noFill/>
          <a:ln/>
        </p:spPr>
        <p:txBody>
          <a:bodyPr wrap="square" rtlCol="0" anchor="ctr"/>
          <a:lstStyle/>
          <a:p>
            <a:pPr indent="0" marL="0">
              <a:buNone/>
            </a:pPr>
            <a:r>
              <a:rPr lang="en-US" sz="1200" b="1" dirty="0">
                <a:solidFill>
                  <a:srgbClr val="1B2A6B"/>
                </a:solidFill>
                <a:latin typeface="Calibri" pitchFamily="34" charset="0"/>
                <a:ea typeface="Calibri" pitchFamily="34" charset="-122"/>
                <a:cs typeface="Calibri" pitchFamily="34" charset="-120"/>
              </a:rPr>
              <a:t>State Management (React Contexts) :</a:t>
            </a:r>
            <a:endParaRPr lang="en-US" sz="1200" dirty="0"/>
          </a:p>
        </p:txBody>
      </p:sp>
      <p:sp>
        <p:nvSpPr>
          <p:cNvPr id="41" name="Shape 39"/>
          <p:cNvSpPr/>
          <p:nvPr/>
        </p:nvSpPr>
        <p:spPr>
          <a:xfrm>
            <a:off x="4919472" y="4370832"/>
            <a:ext cx="914400" cy="292608"/>
          </a:xfrm>
          <a:prstGeom prst="rect">
            <a:avLst/>
          </a:prstGeom>
          <a:solidFill>
            <a:srgbClr val="2E4DA3"/>
          </a:solidFill>
          <a:ln w="12700">
            <a:solidFill>
              <a:srgbClr val="2E4DA3"/>
            </a:solidFill>
            <a:prstDash val="solid"/>
          </a:ln>
        </p:spPr>
      </p:sp>
      <p:sp>
        <p:nvSpPr>
          <p:cNvPr id="42" name="Text 40"/>
          <p:cNvSpPr/>
          <p:nvPr/>
        </p:nvSpPr>
        <p:spPr>
          <a:xfrm>
            <a:off x="4919472" y="4370832"/>
            <a:ext cx="9144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AuthContext</a:t>
            </a:r>
            <a:endParaRPr lang="en-US" sz="1100" dirty="0"/>
          </a:p>
        </p:txBody>
      </p:sp>
      <p:sp>
        <p:nvSpPr>
          <p:cNvPr id="43" name="Shape 41"/>
          <p:cNvSpPr/>
          <p:nvPr/>
        </p:nvSpPr>
        <p:spPr>
          <a:xfrm>
            <a:off x="5897880" y="4370832"/>
            <a:ext cx="914400" cy="292608"/>
          </a:xfrm>
          <a:prstGeom prst="rect">
            <a:avLst/>
          </a:prstGeom>
          <a:solidFill>
            <a:srgbClr val="2E4DA3"/>
          </a:solidFill>
          <a:ln w="12700">
            <a:solidFill>
              <a:srgbClr val="2E4DA3"/>
            </a:solidFill>
            <a:prstDash val="solid"/>
          </a:ln>
        </p:spPr>
      </p:sp>
      <p:sp>
        <p:nvSpPr>
          <p:cNvPr id="44" name="Text 42"/>
          <p:cNvSpPr/>
          <p:nvPr/>
        </p:nvSpPr>
        <p:spPr>
          <a:xfrm>
            <a:off x="5897880" y="4370832"/>
            <a:ext cx="9144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NotesContext</a:t>
            </a:r>
            <a:endParaRPr lang="en-US" sz="1100" dirty="0"/>
          </a:p>
        </p:txBody>
      </p:sp>
      <p:sp>
        <p:nvSpPr>
          <p:cNvPr id="45" name="Shape 43"/>
          <p:cNvSpPr/>
          <p:nvPr/>
        </p:nvSpPr>
        <p:spPr>
          <a:xfrm>
            <a:off x="6876288" y="4370832"/>
            <a:ext cx="914400" cy="292608"/>
          </a:xfrm>
          <a:prstGeom prst="rect">
            <a:avLst/>
          </a:prstGeom>
          <a:solidFill>
            <a:srgbClr val="2E4DA3"/>
          </a:solidFill>
          <a:ln w="12700">
            <a:solidFill>
              <a:srgbClr val="2E4DA3"/>
            </a:solidFill>
            <a:prstDash val="solid"/>
          </a:ln>
        </p:spPr>
      </p:sp>
      <p:sp>
        <p:nvSpPr>
          <p:cNvPr id="46" name="Text 44"/>
          <p:cNvSpPr/>
          <p:nvPr/>
        </p:nvSpPr>
        <p:spPr>
          <a:xfrm>
            <a:off x="6876288" y="4370832"/>
            <a:ext cx="9144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StudyContext</a:t>
            </a:r>
            <a:endParaRPr lang="en-US" sz="1100" dirty="0"/>
          </a:p>
        </p:txBody>
      </p:sp>
      <p:sp>
        <p:nvSpPr>
          <p:cNvPr id="47" name="Shape 45"/>
          <p:cNvSpPr/>
          <p:nvPr/>
        </p:nvSpPr>
        <p:spPr>
          <a:xfrm>
            <a:off x="7854696" y="4370832"/>
            <a:ext cx="914400" cy="292608"/>
          </a:xfrm>
          <a:prstGeom prst="rect">
            <a:avLst/>
          </a:prstGeom>
          <a:solidFill>
            <a:srgbClr val="2E4DA3"/>
          </a:solidFill>
          <a:ln w="12700">
            <a:solidFill>
              <a:srgbClr val="2E4DA3"/>
            </a:solidFill>
            <a:prstDash val="solid"/>
          </a:ln>
        </p:spPr>
      </p:sp>
      <p:sp>
        <p:nvSpPr>
          <p:cNvPr id="48" name="Text 46"/>
          <p:cNvSpPr/>
          <p:nvPr/>
        </p:nvSpPr>
        <p:spPr>
          <a:xfrm>
            <a:off x="7854696" y="4370832"/>
            <a:ext cx="9144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SubjectsContext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6B"/>
          </a:solidFill>
          <a:ln w="12700">
            <a:solidFill>
              <a:srgbClr val="1B2A6B"/>
            </a:solidFill>
            <a:prstDash val="solid"/>
          </a:ln>
        </p:spPr>
      </p:sp>
      <p:sp>
        <p:nvSpPr>
          <p:cNvPr id="3" name="Text 1"/>
          <p:cNvSpPr/>
          <p:nvPr/>
        </p:nvSpPr>
        <p:spPr>
          <a:xfrm>
            <a:off x="411480" y="45720"/>
            <a:ext cx="832104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Questions Probables du Jury</a:t>
            </a:r>
            <a:endParaRPr lang="en-US" sz="2600" dirty="0"/>
          </a:p>
        </p:txBody>
      </p:sp>
      <p:sp>
        <p:nvSpPr>
          <p:cNvPr id="4" name="Shape 2"/>
          <p:cNvSpPr/>
          <p:nvPr/>
        </p:nvSpPr>
        <p:spPr>
          <a:xfrm>
            <a:off x="182880" y="932688"/>
            <a:ext cx="4343400" cy="192024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5" name="Shape 3"/>
          <p:cNvSpPr/>
          <p:nvPr/>
        </p:nvSpPr>
        <p:spPr>
          <a:xfrm>
            <a:off x="182880" y="932688"/>
            <a:ext cx="4343400" cy="64008"/>
          </a:xfrm>
          <a:prstGeom prst="rect">
            <a:avLst/>
          </a:prstGeom>
          <a:solidFill>
            <a:srgbClr val="F5A623"/>
          </a:solidFill>
          <a:ln w="12700">
            <a:solidFill>
              <a:srgbClr val="F5A623"/>
            </a:solidFill>
            <a:prstDash val="solid"/>
          </a:ln>
        </p:spPr>
      </p:sp>
      <p:sp>
        <p:nvSpPr>
          <p:cNvPr id="6" name="Text 4"/>
          <p:cNvSpPr/>
          <p:nvPr/>
        </p:nvSpPr>
        <p:spPr>
          <a:xfrm>
            <a:off x="365760" y="1042416"/>
            <a:ext cx="3977640" cy="658368"/>
          </a:xfrm>
          <a:prstGeom prst="rect">
            <a:avLst/>
          </a:prstGeom>
          <a:noFill/>
          <a:ln/>
        </p:spPr>
        <p:txBody>
          <a:bodyPr wrap="square" rtlCol="0" anchor="t"/>
          <a:lstStyle/>
          <a:p>
            <a:pPr algn="l" indent="0" marL="0">
              <a:buNone/>
            </a:pPr>
            <a:r>
              <a:rPr lang="en-US" sz="1400" b="1" dirty="0">
                <a:solidFill>
                  <a:srgbClr val="F5A623"/>
                </a:solidFill>
                <a:latin typeface="Calibri" pitchFamily="34" charset="0"/>
                <a:ea typeface="Calibri" pitchFamily="34" charset="-122"/>
                <a:cs typeface="Calibri" pitchFamily="34" charset="-120"/>
              </a:rPr>
              <a:t>Q  </a:t>
            </a:r>
            <a:pPr algn="l" indent="0" marL="0">
              <a:buNone/>
            </a:pPr>
            <a:r>
              <a:rPr lang="en-US" sz="1300" b="1" dirty="0">
                <a:solidFill>
                  <a:srgbClr val="1B2A6B"/>
                </a:solidFill>
                <a:latin typeface="Calibri" pitchFamily="34" charset="0"/>
                <a:ea typeface="Calibri" pitchFamily="34" charset="-122"/>
                <a:cs typeface="Calibri" pitchFamily="34" charset="-120"/>
              </a:rPr>
              <a:t>Pourquoi FastAPI plutot que Django ou Node.js ?</a:t>
            </a:r>
            <a:endParaRPr lang="en-US" sz="1400" dirty="0"/>
          </a:p>
        </p:txBody>
      </p:sp>
      <p:sp>
        <p:nvSpPr>
          <p:cNvPr id="7" name="Shape 5"/>
          <p:cNvSpPr/>
          <p:nvPr/>
        </p:nvSpPr>
        <p:spPr>
          <a:xfrm>
            <a:off x="365760" y="1755648"/>
            <a:ext cx="3977640" cy="0"/>
          </a:xfrm>
          <a:prstGeom prst="line">
            <a:avLst/>
          </a:prstGeom>
          <a:noFill/>
          <a:ln w="9525">
            <a:solidFill>
              <a:srgbClr val="E5E7EB"/>
            </a:solidFill>
            <a:prstDash val="solid"/>
          </a:ln>
        </p:spPr>
      </p:sp>
      <p:sp>
        <p:nvSpPr>
          <p:cNvPr id="8" name="Text 6"/>
          <p:cNvSpPr/>
          <p:nvPr/>
        </p:nvSpPr>
        <p:spPr>
          <a:xfrm>
            <a:off x="365760" y="1801368"/>
            <a:ext cx="3977640" cy="987552"/>
          </a:xfrm>
          <a:prstGeom prst="rect">
            <a:avLst/>
          </a:prstGeom>
          <a:noFill/>
          <a:ln/>
        </p:spPr>
        <p:txBody>
          <a:bodyPr wrap="square" rtlCol="0" anchor="t"/>
          <a:lstStyle/>
          <a:p>
            <a:pPr algn="l" indent="0" marL="0">
              <a:buNone/>
            </a:pPr>
            <a:r>
              <a:rPr lang="en-US" sz="1400" b="1" dirty="0">
                <a:solidFill>
                  <a:srgbClr val="0D9488"/>
                </a:solidFill>
                <a:latin typeface="Calibri" pitchFamily="34" charset="0"/>
                <a:ea typeface="Calibri" pitchFamily="34" charset="-122"/>
                <a:cs typeface="Calibri" pitchFamily="34" charset="-120"/>
              </a:rPr>
              <a:t>R  </a:t>
            </a:r>
            <a:pPr algn="l" indent="0" marL="0">
              <a:buNone/>
            </a:pPr>
            <a:r>
              <a:rPr lang="en-US" sz="1150" dirty="0">
                <a:solidFill>
                  <a:srgbClr val="4B5563"/>
                </a:solidFill>
                <a:latin typeface="Calibri" pitchFamily="34" charset="0"/>
                <a:ea typeface="Calibri" pitchFamily="34" charset="-122"/>
                <a:cs typeface="Calibri" pitchFamily="34" charset="-120"/>
              </a:rPr>
              <a:t>L'ecosysteme IA/ML est en Python (PaddleOCR, Transformers). FastAPI est asynchrone, performant et auto-documente l'API via Swagger. Django est trop lourd pour un backend IA ; Node.js manque des bibliotheques necessaires.</a:t>
            </a:r>
            <a:endParaRPr lang="en-US" sz="1400" dirty="0"/>
          </a:p>
        </p:txBody>
      </p:sp>
      <p:sp>
        <p:nvSpPr>
          <p:cNvPr id="9" name="Shape 7"/>
          <p:cNvSpPr/>
          <p:nvPr/>
        </p:nvSpPr>
        <p:spPr>
          <a:xfrm>
            <a:off x="4709160" y="932688"/>
            <a:ext cx="4343400" cy="192024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0" name="Shape 8"/>
          <p:cNvSpPr/>
          <p:nvPr/>
        </p:nvSpPr>
        <p:spPr>
          <a:xfrm>
            <a:off x="4709160" y="932688"/>
            <a:ext cx="4343400" cy="64008"/>
          </a:xfrm>
          <a:prstGeom prst="rect">
            <a:avLst/>
          </a:prstGeom>
          <a:solidFill>
            <a:srgbClr val="F5A623"/>
          </a:solidFill>
          <a:ln w="12700">
            <a:solidFill>
              <a:srgbClr val="F5A623"/>
            </a:solidFill>
            <a:prstDash val="solid"/>
          </a:ln>
        </p:spPr>
      </p:sp>
      <p:sp>
        <p:nvSpPr>
          <p:cNvPr id="11" name="Text 9"/>
          <p:cNvSpPr/>
          <p:nvPr/>
        </p:nvSpPr>
        <p:spPr>
          <a:xfrm>
            <a:off x="4892040" y="1042416"/>
            <a:ext cx="3977640" cy="658368"/>
          </a:xfrm>
          <a:prstGeom prst="rect">
            <a:avLst/>
          </a:prstGeom>
          <a:noFill/>
          <a:ln/>
        </p:spPr>
        <p:txBody>
          <a:bodyPr wrap="square" rtlCol="0" anchor="t"/>
          <a:lstStyle/>
          <a:p>
            <a:pPr algn="l" indent="0" marL="0">
              <a:buNone/>
            </a:pPr>
            <a:r>
              <a:rPr lang="en-US" sz="1400" b="1" dirty="0">
                <a:solidFill>
                  <a:srgbClr val="F5A623"/>
                </a:solidFill>
                <a:latin typeface="Calibri" pitchFamily="34" charset="0"/>
                <a:ea typeface="Calibri" pitchFamily="34" charset="-122"/>
                <a:cs typeface="Calibri" pitchFamily="34" charset="-120"/>
              </a:rPr>
              <a:t>Q  </a:t>
            </a:r>
            <a:pPr algn="l" indent="0" marL="0">
              <a:buNone/>
            </a:pPr>
            <a:r>
              <a:rPr lang="en-US" sz="1300" b="1" dirty="0">
                <a:solidFill>
                  <a:srgbClr val="1B2A6B"/>
                </a:solidFill>
                <a:latin typeface="Calibri" pitchFamily="34" charset="0"/>
                <a:ea typeface="Calibri" pitchFamily="34" charset="-122"/>
                <a:cs typeface="Calibri" pitchFamily="34" charset="-120"/>
              </a:rPr>
              <a:t>Qu'est-ce que le RAG et pourquoi l'utiliser ?</a:t>
            </a:r>
            <a:endParaRPr lang="en-US" sz="1400" dirty="0"/>
          </a:p>
        </p:txBody>
      </p:sp>
      <p:sp>
        <p:nvSpPr>
          <p:cNvPr id="12" name="Shape 10"/>
          <p:cNvSpPr/>
          <p:nvPr/>
        </p:nvSpPr>
        <p:spPr>
          <a:xfrm>
            <a:off x="4892040" y="1755648"/>
            <a:ext cx="3977640" cy="0"/>
          </a:xfrm>
          <a:prstGeom prst="line">
            <a:avLst/>
          </a:prstGeom>
          <a:noFill/>
          <a:ln w="9525">
            <a:solidFill>
              <a:srgbClr val="E5E7EB"/>
            </a:solidFill>
            <a:prstDash val="solid"/>
          </a:ln>
        </p:spPr>
      </p:sp>
      <p:sp>
        <p:nvSpPr>
          <p:cNvPr id="13" name="Text 11"/>
          <p:cNvSpPr/>
          <p:nvPr/>
        </p:nvSpPr>
        <p:spPr>
          <a:xfrm>
            <a:off x="4892040" y="1801368"/>
            <a:ext cx="3977640" cy="987552"/>
          </a:xfrm>
          <a:prstGeom prst="rect">
            <a:avLst/>
          </a:prstGeom>
          <a:noFill/>
          <a:ln/>
        </p:spPr>
        <p:txBody>
          <a:bodyPr wrap="square" rtlCol="0" anchor="t"/>
          <a:lstStyle/>
          <a:p>
            <a:pPr algn="l" indent="0" marL="0">
              <a:buNone/>
            </a:pPr>
            <a:r>
              <a:rPr lang="en-US" sz="1400" b="1" dirty="0">
                <a:solidFill>
                  <a:srgbClr val="0D9488"/>
                </a:solidFill>
                <a:latin typeface="Calibri" pitchFamily="34" charset="0"/>
                <a:ea typeface="Calibri" pitchFamily="34" charset="-122"/>
                <a:cs typeface="Calibri" pitchFamily="34" charset="-120"/>
              </a:rPr>
              <a:t>R  </a:t>
            </a:r>
            <a:pPr algn="l" indent="0" marL="0">
              <a:buNone/>
            </a:pPr>
            <a:r>
              <a:rPr lang="en-US" sz="1150" dirty="0">
                <a:solidFill>
                  <a:srgbClr val="4B5563"/>
                </a:solidFill>
                <a:latin typeface="Calibri" pitchFamily="34" charset="0"/>
                <a:ea typeface="Calibri" pitchFamily="34" charset="-122"/>
                <a:cs typeface="Calibri" pitchFamily="34" charset="-120"/>
              </a:rPr>
              <a:t>RAG injecte des extraits de VOS notes dans le contexte du LLM juste avant sa reponse. L'assistant ne peut repondre que sur votre cours, eliminant les hallucinations et les reponses generiques d'Internet.</a:t>
            </a:r>
            <a:endParaRPr lang="en-US" sz="1400" dirty="0"/>
          </a:p>
        </p:txBody>
      </p:sp>
      <p:sp>
        <p:nvSpPr>
          <p:cNvPr id="14" name="Shape 12"/>
          <p:cNvSpPr/>
          <p:nvPr/>
        </p:nvSpPr>
        <p:spPr>
          <a:xfrm>
            <a:off x="182880" y="2962656"/>
            <a:ext cx="4343400" cy="192024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15" name="Shape 13"/>
          <p:cNvSpPr/>
          <p:nvPr/>
        </p:nvSpPr>
        <p:spPr>
          <a:xfrm>
            <a:off x="182880" y="2962656"/>
            <a:ext cx="4343400" cy="64008"/>
          </a:xfrm>
          <a:prstGeom prst="rect">
            <a:avLst/>
          </a:prstGeom>
          <a:solidFill>
            <a:srgbClr val="F5A623"/>
          </a:solidFill>
          <a:ln w="12700">
            <a:solidFill>
              <a:srgbClr val="F5A623"/>
            </a:solidFill>
            <a:prstDash val="solid"/>
          </a:ln>
        </p:spPr>
      </p:sp>
      <p:sp>
        <p:nvSpPr>
          <p:cNvPr id="16" name="Text 14"/>
          <p:cNvSpPr/>
          <p:nvPr/>
        </p:nvSpPr>
        <p:spPr>
          <a:xfrm>
            <a:off x="365760" y="3072384"/>
            <a:ext cx="3977640" cy="658368"/>
          </a:xfrm>
          <a:prstGeom prst="rect">
            <a:avLst/>
          </a:prstGeom>
          <a:noFill/>
          <a:ln/>
        </p:spPr>
        <p:txBody>
          <a:bodyPr wrap="square" rtlCol="0" anchor="t"/>
          <a:lstStyle/>
          <a:p>
            <a:pPr algn="l" indent="0" marL="0">
              <a:buNone/>
            </a:pPr>
            <a:r>
              <a:rPr lang="en-US" sz="1400" b="1" dirty="0">
                <a:solidFill>
                  <a:srgbClr val="F5A623"/>
                </a:solidFill>
                <a:latin typeface="Calibri" pitchFamily="34" charset="0"/>
                <a:ea typeface="Calibri" pitchFamily="34" charset="-122"/>
                <a:cs typeface="Calibri" pitchFamily="34" charset="-120"/>
              </a:rPr>
              <a:t>Q  </a:t>
            </a:r>
            <a:pPr algn="l" indent="0" marL="0">
              <a:buNone/>
            </a:pPr>
            <a:r>
              <a:rPr lang="en-US" sz="1300" b="1" dirty="0">
                <a:solidFill>
                  <a:srgbClr val="1B2A6B"/>
                </a:solidFill>
                <a:latin typeface="Calibri" pitchFamily="34" charset="0"/>
                <a:ea typeface="Calibri" pitchFamily="34" charset="-122"/>
                <a:cs typeface="Calibri" pitchFamily="34" charset="-120"/>
              </a:rPr>
              <a:t>Pourquoi MongoDB plutot que PostgreSQL ?</a:t>
            </a:r>
            <a:endParaRPr lang="en-US" sz="1400" dirty="0"/>
          </a:p>
        </p:txBody>
      </p:sp>
      <p:sp>
        <p:nvSpPr>
          <p:cNvPr id="17" name="Shape 15"/>
          <p:cNvSpPr/>
          <p:nvPr/>
        </p:nvSpPr>
        <p:spPr>
          <a:xfrm>
            <a:off x="365760" y="3785616"/>
            <a:ext cx="3977640" cy="0"/>
          </a:xfrm>
          <a:prstGeom prst="line">
            <a:avLst/>
          </a:prstGeom>
          <a:noFill/>
          <a:ln w="9525">
            <a:solidFill>
              <a:srgbClr val="E5E7EB"/>
            </a:solidFill>
            <a:prstDash val="solid"/>
          </a:ln>
        </p:spPr>
      </p:sp>
      <p:sp>
        <p:nvSpPr>
          <p:cNvPr id="18" name="Text 16"/>
          <p:cNvSpPr/>
          <p:nvPr/>
        </p:nvSpPr>
        <p:spPr>
          <a:xfrm>
            <a:off x="365760" y="3831336"/>
            <a:ext cx="3977640" cy="987552"/>
          </a:xfrm>
          <a:prstGeom prst="rect">
            <a:avLst/>
          </a:prstGeom>
          <a:noFill/>
          <a:ln/>
        </p:spPr>
        <p:txBody>
          <a:bodyPr wrap="square" rtlCol="0" anchor="t"/>
          <a:lstStyle/>
          <a:p>
            <a:pPr algn="l" indent="0" marL="0">
              <a:buNone/>
            </a:pPr>
            <a:r>
              <a:rPr lang="en-US" sz="1400" b="1" dirty="0">
                <a:solidFill>
                  <a:srgbClr val="0D9488"/>
                </a:solidFill>
                <a:latin typeface="Calibri" pitchFamily="34" charset="0"/>
                <a:ea typeface="Calibri" pitchFamily="34" charset="-122"/>
                <a:cs typeface="Calibri" pitchFamily="34" charset="-120"/>
              </a:rPr>
              <a:t>R  </a:t>
            </a:r>
            <a:pPr algn="l" indent="0" marL="0">
              <a:buNone/>
            </a:pPr>
            <a:r>
              <a:rPr lang="en-US" sz="1150" dirty="0">
                <a:solidFill>
                  <a:srgbClr val="4B5563"/>
                </a:solidFill>
                <a:latin typeface="Calibri" pitchFamily="34" charset="0"/>
                <a:ea typeface="Calibri" pitchFamily="34" charset="-122"/>
                <a:cs typeface="Calibri" pitchFamily="34" charset="-120"/>
              </a:rPr>
              <a:t>Le contenu genere par l'IA est polymorphe : une note de Maths a des formules, une note d'Histoire a des chronologies. Le JSON flexible de MongoDB evite des dizaines de tables de jointure SQL complexes.</a:t>
            </a:r>
            <a:endParaRPr lang="en-US" sz="1400" dirty="0"/>
          </a:p>
        </p:txBody>
      </p:sp>
      <p:sp>
        <p:nvSpPr>
          <p:cNvPr id="19" name="Shape 17"/>
          <p:cNvSpPr/>
          <p:nvPr/>
        </p:nvSpPr>
        <p:spPr>
          <a:xfrm>
            <a:off x="4709160" y="2962656"/>
            <a:ext cx="4343400" cy="1920240"/>
          </a:xfrm>
          <a:prstGeom prst="rect">
            <a:avLst/>
          </a:prstGeom>
          <a:solidFill>
            <a:srgbClr val="FFFFFF"/>
          </a:solidFill>
          <a:ln w="12700">
            <a:solidFill>
              <a:srgbClr val="E2E8F4"/>
            </a:solidFill>
            <a:prstDash val="solid"/>
          </a:ln>
          <a:effectLst>
            <a:outerShdw sx="100000" sy="100000" kx="0" ky="0" algn="bl" rotWithShape="0" blurRad="101600" dist="38100" dir="8100000">
              <a:srgbClr val="1B2A6B">
                <a:alpha val="12000"/>
              </a:srgbClr>
            </a:outerShdw>
          </a:effectLst>
        </p:spPr>
      </p:sp>
      <p:sp>
        <p:nvSpPr>
          <p:cNvPr id="20" name="Shape 18"/>
          <p:cNvSpPr/>
          <p:nvPr/>
        </p:nvSpPr>
        <p:spPr>
          <a:xfrm>
            <a:off x="4709160" y="2962656"/>
            <a:ext cx="4343400" cy="64008"/>
          </a:xfrm>
          <a:prstGeom prst="rect">
            <a:avLst/>
          </a:prstGeom>
          <a:solidFill>
            <a:srgbClr val="F5A623"/>
          </a:solidFill>
          <a:ln w="12700">
            <a:solidFill>
              <a:srgbClr val="F5A623"/>
            </a:solidFill>
            <a:prstDash val="solid"/>
          </a:ln>
        </p:spPr>
      </p:sp>
      <p:sp>
        <p:nvSpPr>
          <p:cNvPr id="21" name="Text 19"/>
          <p:cNvSpPr/>
          <p:nvPr/>
        </p:nvSpPr>
        <p:spPr>
          <a:xfrm>
            <a:off x="4892040" y="3072384"/>
            <a:ext cx="3977640" cy="658368"/>
          </a:xfrm>
          <a:prstGeom prst="rect">
            <a:avLst/>
          </a:prstGeom>
          <a:noFill/>
          <a:ln/>
        </p:spPr>
        <p:txBody>
          <a:bodyPr wrap="square" rtlCol="0" anchor="t"/>
          <a:lstStyle/>
          <a:p>
            <a:pPr algn="l" indent="0" marL="0">
              <a:buNone/>
            </a:pPr>
            <a:r>
              <a:rPr lang="en-US" sz="1400" b="1" dirty="0">
                <a:solidFill>
                  <a:srgbClr val="F5A623"/>
                </a:solidFill>
                <a:latin typeface="Calibri" pitchFamily="34" charset="0"/>
                <a:ea typeface="Calibri" pitchFamily="34" charset="-122"/>
                <a:cs typeface="Calibri" pitchFamily="34" charset="-120"/>
              </a:rPr>
              <a:t>Q  </a:t>
            </a:r>
            <a:pPr algn="l" indent="0" marL="0">
              <a:buNone/>
            </a:pPr>
            <a:r>
              <a:rPr lang="en-US" sz="1300" b="1" dirty="0">
                <a:solidFill>
                  <a:srgbClr val="1B2A6B"/>
                </a:solidFill>
                <a:latin typeface="Calibri" pitchFamily="34" charset="0"/>
                <a:ea typeface="Calibri" pitchFamily="34" charset="-122"/>
                <a:cs typeface="Calibri" pitchFamily="34" charset="-120"/>
              </a:rPr>
              <a:t>Comment gerez-vous les photos floues ou l'OCR en echec ?</a:t>
            </a:r>
            <a:endParaRPr lang="en-US" sz="1400" dirty="0"/>
          </a:p>
        </p:txBody>
      </p:sp>
      <p:sp>
        <p:nvSpPr>
          <p:cNvPr id="22" name="Shape 20"/>
          <p:cNvSpPr/>
          <p:nvPr/>
        </p:nvSpPr>
        <p:spPr>
          <a:xfrm>
            <a:off x="4892040" y="3785616"/>
            <a:ext cx="3977640" cy="0"/>
          </a:xfrm>
          <a:prstGeom prst="line">
            <a:avLst/>
          </a:prstGeom>
          <a:noFill/>
          <a:ln w="9525">
            <a:solidFill>
              <a:srgbClr val="E5E7EB"/>
            </a:solidFill>
            <a:prstDash val="solid"/>
          </a:ln>
        </p:spPr>
      </p:sp>
      <p:sp>
        <p:nvSpPr>
          <p:cNvPr id="23" name="Text 21"/>
          <p:cNvSpPr/>
          <p:nvPr/>
        </p:nvSpPr>
        <p:spPr>
          <a:xfrm>
            <a:off x="4892040" y="3831336"/>
            <a:ext cx="3977640" cy="987552"/>
          </a:xfrm>
          <a:prstGeom prst="rect">
            <a:avLst/>
          </a:prstGeom>
          <a:noFill/>
          <a:ln/>
        </p:spPr>
        <p:txBody>
          <a:bodyPr wrap="square" rtlCol="0" anchor="t"/>
          <a:lstStyle/>
          <a:p>
            <a:pPr algn="l" indent="0" marL="0">
              <a:buNone/>
            </a:pPr>
            <a:r>
              <a:rPr lang="en-US" sz="1400" b="1" dirty="0">
                <a:solidFill>
                  <a:srgbClr val="0D9488"/>
                </a:solidFill>
                <a:latin typeface="Calibri" pitchFamily="34" charset="0"/>
                <a:ea typeface="Calibri" pitchFamily="34" charset="-122"/>
                <a:cs typeface="Calibri" pitchFamily="34" charset="-120"/>
              </a:rPr>
              <a:t>R  </a:t>
            </a:r>
            <a:pPr algn="l" indent="0" marL="0">
              <a:buNone/>
            </a:pPr>
            <a:r>
              <a:rPr lang="en-US" sz="1150" dirty="0">
                <a:solidFill>
                  <a:srgbClr val="4B5563"/>
                </a:solidFill>
                <a:latin typeface="Calibri" pitchFamily="34" charset="0"/>
                <a:ea typeface="Calibri" pitchFamily="34" charset="-122"/>
                <a:cs typeface="Calibri" pitchFamily="34" charset="-120"/>
              </a:rPr>
              <a:t>Pipeline resilient : OpenCV ameliore contraste et perspective en amont. Si la confiance OCR est trop faible, un fallback vers un LLM multimodal (GPT-4o Vision / Claude Vision) extrait le texte directement.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6B"/>
        </a:solidFill>
      </p:bgPr>
    </p:bg>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Conclusion &amp; Perspectives</a:t>
            </a:r>
            <a:endParaRPr lang="en-US" sz="3000" dirty="0"/>
          </a:p>
        </p:txBody>
      </p:sp>
      <p:sp>
        <p:nvSpPr>
          <p:cNvPr id="3" name="Shape 1"/>
          <p:cNvSpPr/>
          <p:nvPr/>
        </p:nvSpPr>
        <p:spPr>
          <a:xfrm>
            <a:off x="457200" y="731520"/>
            <a:ext cx="3200400" cy="45720"/>
          </a:xfrm>
          <a:prstGeom prst="rect">
            <a:avLst/>
          </a:prstGeom>
          <a:solidFill>
            <a:srgbClr val="F5A623"/>
          </a:solidFill>
          <a:ln w="12700">
            <a:solidFill>
              <a:srgbClr val="F5A623"/>
            </a:solidFill>
            <a:prstDash val="solid"/>
          </a:ln>
        </p:spPr>
      </p:sp>
      <p:sp>
        <p:nvSpPr>
          <p:cNvPr id="4" name="Shape 2"/>
          <p:cNvSpPr/>
          <p:nvPr/>
        </p:nvSpPr>
        <p:spPr>
          <a:xfrm>
            <a:off x="274320" y="914400"/>
            <a:ext cx="4114800" cy="4005072"/>
          </a:xfrm>
          <a:prstGeom prst="rect">
            <a:avLst/>
          </a:prstGeom>
          <a:solidFill>
            <a:srgbClr val="162050"/>
          </a:solidFill>
          <a:ln w="12700">
            <a:solidFill>
              <a:srgbClr val="2E4DA3"/>
            </a:solidFill>
            <a:prstDash val="solid"/>
          </a:ln>
        </p:spPr>
      </p:sp>
      <p:sp>
        <p:nvSpPr>
          <p:cNvPr id="5" name="Text 3"/>
          <p:cNvSpPr/>
          <p:nvPr/>
        </p:nvSpPr>
        <p:spPr>
          <a:xfrm>
            <a:off x="457200" y="1005840"/>
            <a:ext cx="3749040" cy="384048"/>
          </a:xfrm>
          <a:prstGeom prst="rect">
            <a:avLst/>
          </a:prstGeom>
          <a:noFill/>
          <a:ln/>
        </p:spPr>
        <p:txBody>
          <a:bodyPr wrap="square" rtlCol="0" anchor="ctr"/>
          <a:lstStyle/>
          <a:p>
            <a:pPr algn="l" indent="0" marL="0">
              <a:buNone/>
            </a:pPr>
            <a:r>
              <a:rPr lang="en-US" sz="1500" b="1" dirty="0">
                <a:solidFill>
                  <a:srgbClr val="F5A623"/>
                </a:solidFill>
                <a:latin typeface="Calibri" pitchFamily="34" charset="0"/>
                <a:ea typeface="Calibri" pitchFamily="34" charset="-122"/>
                <a:cs typeface="Calibri" pitchFamily="34" charset="-120"/>
              </a:rPr>
              <a:t>Ce qui a ete realise</a:t>
            </a:r>
            <a:endParaRPr lang="en-US" sz="1500" dirty="0"/>
          </a:p>
        </p:txBody>
      </p:sp>
      <p:sp>
        <p:nvSpPr>
          <p:cNvPr id="6" name="Text 4"/>
          <p:cNvSpPr/>
          <p:nvPr/>
        </p:nvSpPr>
        <p:spPr>
          <a:xfrm>
            <a:off x="457200" y="1463040"/>
            <a:ext cx="3657600" cy="3291840"/>
          </a:xfrm>
          <a:prstGeom prst="rect">
            <a:avLst/>
          </a:prstGeom>
          <a:noFill/>
          <a:ln/>
        </p:spPr>
        <p:txBody>
          <a:bodyPr wrap="square" rtlCol="0" anchor="t"/>
          <a:lstStyle/>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Application mobile cross-platform (iOS / Android)</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Pipeline IA complet (OCR + LLM + RAG + SM-2)</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Authentification securisee (JWT + Bcrypt)</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Support LaTeX pour les formules mathematiques</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Assistant RAG personnalise sur les notes</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Algorithme de repetition espacee SM-2</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Tests pytest : 13+ fichiers (unitaires + integration)</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Support multilingue (Francais, Arabe, Anglais)</a:t>
            </a:r>
            <a:endParaRPr lang="en-US" sz="1200" dirty="0"/>
          </a:p>
        </p:txBody>
      </p:sp>
      <p:sp>
        <p:nvSpPr>
          <p:cNvPr id="7" name="Shape 5"/>
          <p:cNvSpPr/>
          <p:nvPr/>
        </p:nvSpPr>
        <p:spPr>
          <a:xfrm>
            <a:off x="4754880" y="914400"/>
            <a:ext cx="4114800" cy="4005072"/>
          </a:xfrm>
          <a:prstGeom prst="rect">
            <a:avLst/>
          </a:prstGeom>
          <a:solidFill>
            <a:srgbClr val="162050"/>
          </a:solidFill>
          <a:ln w="12700">
            <a:solidFill>
              <a:srgbClr val="2E4DA3"/>
            </a:solidFill>
            <a:prstDash val="solid"/>
          </a:ln>
        </p:spPr>
      </p:sp>
      <p:sp>
        <p:nvSpPr>
          <p:cNvPr id="8" name="Text 6"/>
          <p:cNvSpPr/>
          <p:nvPr/>
        </p:nvSpPr>
        <p:spPr>
          <a:xfrm>
            <a:off x="4937760" y="1005840"/>
            <a:ext cx="3749040" cy="384048"/>
          </a:xfrm>
          <a:prstGeom prst="rect">
            <a:avLst/>
          </a:prstGeom>
          <a:noFill/>
          <a:ln/>
        </p:spPr>
        <p:txBody>
          <a:bodyPr wrap="square" rtlCol="0" anchor="ctr"/>
          <a:lstStyle/>
          <a:p>
            <a:pPr algn="l" indent="0" marL="0">
              <a:buNone/>
            </a:pPr>
            <a:r>
              <a:rPr lang="en-US" sz="1500" b="1" dirty="0">
                <a:solidFill>
                  <a:srgbClr val="0D9488"/>
                </a:solidFill>
                <a:latin typeface="Calibri" pitchFamily="34" charset="0"/>
                <a:ea typeface="Calibri" pitchFamily="34" charset="-122"/>
                <a:cs typeface="Calibri" pitchFamily="34" charset="-120"/>
              </a:rPr>
              <a:t>Perspectives</a:t>
            </a:r>
            <a:endParaRPr lang="en-US" sz="1500" dirty="0"/>
          </a:p>
        </p:txBody>
      </p:sp>
      <p:sp>
        <p:nvSpPr>
          <p:cNvPr id="9" name="Text 7"/>
          <p:cNvSpPr/>
          <p:nvPr/>
        </p:nvSpPr>
        <p:spPr>
          <a:xfrm>
            <a:off x="4937760" y="1463040"/>
            <a:ext cx="3657600" cy="3291840"/>
          </a:xfrm>
          <a:prstGeom prst="rect">
            <a:avLst/>
          </a:prstGeom>
          <a:noFill/>
          <a:ln/>
        </p:spPr>
        <p:txBody>
          <a:bodyPr wrap="square" rtlCol="0" anchor="t"/>
          <a:lstStyle/>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Deploiement cloud (Railway / Render / Docker)</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Mode hors-ligne avec cache local</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Partage de notes entre etudiants</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Integration avec Moodle / LMS universitaires</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Fine-tuning OCR sur ecriture arabe manuscrite</a:t>
            </a:r>
            <a:endParaRPr lang="en-US" sz="1200" dirty="0"/>
          </a:p>
          <a:p>
            <a:pPr marL="342900" indent="-342900">
              <a:spcAft>
                <a:spcPts val="500"/>
              </a:spcAft>
              <a:buSzPct val="100000"/>
              <a:buChar char="•"/>
            </a:pPr>
            <a:r>
              <a:rPr lang="en-US" sz="1200" dirty="0">
                <a:solidFill>
                  <a:srgbClr val="C0D8FF"/>
                </a:solidFill>
                <a:latin typeface="Calibri" pitchFamily="34" charset="0"/>
                <a:ea typeface="Calibri" pitchFamily="34" charset="-122"/>
                <a:cs typeface="Calibri" pitchFamily="34" charset="-120"/>
              </a:rPr>
              <a:t>Notifications intelligentes (rappels SM-2)</a:t>
            </a:r>
            <a:endParaRPr lang="en-US" sz="1200" dirty="0"/>
          </a:p>
        </p:txBody>
      </p:sp>
      <p:sp>
        <p:nvSpPr>
          <p:cNvPr id="10" name="Shape 8"/>
          <p:cNvSpPr/>
          <p:nvPr/>
        </p:nvSpPr>
        <p:spPr>
          <a:xfrm>
            <a:off x="274320" y="4709160"/>
            <a:ext cx="8595360" cy="384048"/>
          </a:xfrm>
          <a:prstGeom prst="rect">
            <a:avLst/>
          </a:prstGeom>
          <a:solidFill>
            <a:srgbClr val="F5A623"/>
          </a:solidFill>
          <a:ln w="12700">
            <a:solidFill>
              <a:srgbClr val="F5A623"/>
            </a:solidFill>
            <a:prstDash val="solid"/>
          </a:ln>
        </p:spPr>
      </p:sp>
      <p:sp>
        <p:nvSpPr>
          <p:cNvPr id="11" name="Text 9"/>
          <p:cNvSpPr/>
          <p:nvPr/>
        </p:nvSpPr>
        <p:spPr>
          <a:xfrm>
            <a:off x="457200" y="4718304"/>
            <a:ext cx="8229600" cy="365760"/>
          </a:xfrm>
          <a:prstGeom prst="rect">
            <a:avLst/>
          </a:prstGeom>
          <a:noFill/>
          <a:ln/>
        </p:spPr>
        <p:txBody>
          <a:bodyPr wrap="square" rtlCol="0" anchor="ctr"/>
          <a:lstStyle/>
          <a:p>
            <a:pPr algn="ctr" indent="0" marL="0">
              <a:buNone/>
            </a:pPr>
            <a:r>
              <a:rPr lang="en-US" sz="1300" b="1" dirty="0">
                <a:solidFill>
                  <a:srgbClr val="1B2A6B"/>
                </a:solidFill>
                <a:latin typeface="Calibri" pitchFamily="34" charset="0"/>
                <a:ea typeface="Calibri" pitchFamily="34" charset="-122"/>
                <a:cs typeface="Calibri" pitchFamily="34" charset="-120"/>
              </a:rPr>
              <a:t>"PicLearn transforme n'importe quelle photo de cours en un tuteur personnel intelligent."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E4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A623"/>
          </a:solidFill>
          <a:ln w="12700">
            <a:solidFill>
              <a:srgbClr val="F5A623"/>
            </a:solidFill>
            <a:prstDash val="solid"/>
          </a:ln>
        </p:spPr>
      </p:sp>
      <p:sp>
        <p:nvSpPr>
          <p:cNvPr id="3" name="Shape 1"/>
          <p:cNvSpPr/>
          <p:nvPr/>
        </p:nvSpPr>
        <p:spPr>
          <a:xfrm>
            <a:off x="2743200" y="274320"/>
            <a:ext cx="3657600" cy="3657600"/>
          </a:xfrm>
          <a:prstGeom prst="ellipse">
            <a:avLst/>
          </a:prstGeom>
          <a:solidFill>
            <a:srgbClr val="1B3080"/>
          </a:solidFill>
          <a:ln w="12700">
            <a:solidFill>
              <a:srgbClr val="2E4DA3"/>
            </a:solidFill>
            <a:prstDash val="solid"/>
          </a:ln>
        </p:spPr>
      </p:sp>
      <p:sp>
        <p:nvSpPr>
          <p:cNvPr id="4" name="Text 2"/>
          <p:cNvSpPr/>
          <p:nvPr/>
        </p:nvSpPr>
        <p:spPr>
          <a:xfrm>
            <a:off x="914400" y="1005840"/>
            <a:ext cx="7315200" cy="1371600"/>
          </a:xfrm>
          <a:prstGeom prst="rect">
            <a:avLst/>
          </a:prstGeom>
          <a:noFill/>
          <a:ln/>
        </p:spPr>
        <p:txBody>
          <a:bodyPr wrap="square" rtlCol="0" anchor="ctr"/>
          <a:lstStyle/>
          <a:p>
            <a:pPr algn="ctr" indent="0" marL="0">
              <a:buNone/>
            </a:pPr>
            <a:r>
              <a:rPr lang="en-US" sz="8000" b="1" dirty="0">
                <a:solidFill>
                  <a:srgbClr val="FFFFFF"/>
                </a:solidFill>
                <a:latin typeface="Calibri" pitchFamily="34" charset="0"/>
                <a:ea typeface="Calibri" pitchFamily="34" charset="-122"/>
                <a:cs typeface="Calibri" pitchFamily="34" charset="-120"/>
              </a:rPr>
              <a:t>Merci</a:t>
            </a:r>
            <a:endParaRPr lang="en-US" sz="8000" dirty="0"/>
          </a:p>
        </p:txBody>
      </p:sp>
      <p:sp>
        <p:nvSpPr>
          <p:cNvPr id="5" name="Text 3"/>
          <p:cNvSpPr/>
          <p:nvPr/>
        </p:nvSpPr>
        <p:spPr>
          <a:xfrm>
            <a:off x="914400" y="2423160"/>
            <a:ext cx="7315200" cy="548640"/>
          </a:xfrm>
          <a:prstGeom prst="rect">
            <a:avLst/>
          </a:prstGeom>
          <a:noFill/>
          <a:ln/>
        </p:spPr>
        <p:txBody>
          <a:bodyPr wrap="square" rtlCol="0" anchor="ctr"/>
          <a:lstStyle/>
          <a:p>
            <a:pPr algn="ctr" indent="0" marL="0">
              <a:buNone/>
            </a:pPr>
            <a:r>
              <a:rPr lang="en-US" sz="2200" dirty="0">
                <a:solidFill>
                  <a:srgbClr val="A0B0D8"/>
                </a:solidFill>
                <a:latin typeface="Calibri" pitchFamily="34" charset="0"/>
                <a:ea typeface="Calibri" pitchFamily="34" charset="-122"/>
                <a:cs typeface="Calibri" pitchFamily="34" charset="-120"/>
              </a:rPr>
              <a:t>pour votre attention</a:t>
            </a:r>
            <a:endParaRPr lang="en-US" sz="2200" dirty="0"/>
          </a:p>
        </p:txBody>
      </p:sp>
      <p:sp>
        <p:nvSpPr>
          <p:cNvPr id="6" name="Text 4"/>
          <p:cNvSpPr/>
          <p:nvPr/>
        </p:nvSpPr>
        <p:spPr>
          <a:xfrm>
            <a:off x="914400" y="3017520"/>
            <a:ext cx="7315200" cy="548640"/>
          </a:xfrm>
          <a:prstGeom prst="rect">
            <a:avLst/>
          </a:prstGeom>
          <a:noFill/>
          <a:ln/>
        </p:spPr>
        <p:txBody>
          <a:bodyPr wrap="square" rtlCol="0" anchor="ctr"/>
          <a:lstStyle/>
          <a:p>
            <a:pPr algn="ctr" indent="0" marL="0">
              <a:buNone/>
            </a:pPr>
            <a:r>
              <a:rPr lang="en-US" sz="2600" b="1" dirty="0">
                <a:solidFill>
                  <a:srgbClr val="F5A623"/>
                </a:solidFill>
                <a:latin typeface="Calibri" pitchFamily="34" charset="0"/>
                <a:ea typeface="Calibri" pitchFamily="34" charset="-122"/>
                <a:cs typeface="Calibri" pitchFamily="34" charset="-120"/>
              </a:rPr>
              <a:t>Questions ?</a:t>
            </a:r>
            <a:endParaRPr lang="en-US" sz="2600" dirty="0"/>
          </a:p>
        </p:txBody>
      </p:sp>
      <p:sp>
        <p:nvSpPr>
          <p:cNvPr id="7" name="Shape 5"/>
          <p:cNvSpPr/>
          <p:nvPr/>
        </p:nvSpPr>
        <p:spPr>
          <a:xfrm>
            <a:off x="0" y="4297680"/>
            <a:ext cx="9144000" cy="845820"/>
          </a:xfrm>
          <a:prstGeom prst="rect">
            <a:avLst/>
          </a:prstGeom>
          <a:solidFill>
            <a:srgbClr val="162050"/>
          </a:solidFill>
          <a:ln w="12700">
            <a:solidFill>
              <a:srgbClr val="2E4DA3"/>
            </a:solidFill>
            <a:prstDash val="solid"/>
          </a:ln>
        </p:spPr>
      </p:sp>
      <p:sp>
        <p:nvSpPr>
          <p:cNvPr id="8" name="Text 6"/>
          <p:cNvSpPr/>
          <p:nvPr/>
        </p:nvSpPr>
        <p:spPr>
          <a:xfrm>
            <a:off x="274320" y="4343400"/>
            <a:ext cx="8595360" cy="777240"/>
          </a:xfrm>
          <a:prstGeom prst="rect">
            <a:avLst/>
          </a:prstGeom>
          <a:noFill/>
          <a:ln/>
        </p:spPr>
        <p:txBody>
          <a:bodyPr wrap="square" rtlCol="0" anchor="ctr"/>
          <a:lstStyle/>
          <a:p>
            <a:pPr algn="ctr" indent="0" marL="0">
              <a:buNone/>
            </a:pPr>
            <a:r>
              <a:rPr lang="en-US" sz="1100" dirty="0">
                <a:solidFill>
                  <a:srgbClr val="7A92C8"/>
                </a:solidFill>
                <a:latin typeface="Calibri" pitchFamily="34" charset="0"/>
                <a:ea typeface="Calibri" pitchFamily="34" charset="-122"/>
                <a:cs typeface="Calibri" pitchFamily="34" charset="-120"/>
              </a:rPr>
              <a:t>Backend: FastAPI + Python 3.13 + MongoDB   |   Frontend: React Native + Expo SDK 54   |   IA: Claude Sonnet 4.6 + EasyOCR + ChromaDB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PicLearn — Soutenance de Projet</dc:title>
  <dc:subject>PptxGenJS Presentation</dc:subject>
  <dc:creator>PicLearn Project</dc:creator>
  <cp:lastModifiedBy>PicLearn Project</cp:lastModifiedBy>
  <cp:revision>1</cp:revision>
  <dcterms:created xsi:type="dcterms:W3CDTF">2026-05-16T17:34:00Z</dcterms:created>
  <dcterms:modified xsi:type="dcterms:W3CDTF">2026-05-16T17:34:00Z</dcterms:modified>
</cp:coreProperties>
</file>